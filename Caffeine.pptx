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76" r:id="rId3"/>
    <p:sldId id="257" r:id="rId4"/>
    <p:sldId id="278" r:id="rId5"/>
    <p:sldId id="288" r:id="rId6"/>
    <p:sldId id="289" r:id="rId7"/>
    <p:sldId id="258" r:id="rId8"/>
    <p:sldId id="279" r:id="rId9"/>
    <p:sldId id="260" r:id="rId10"/>
    <p:sldId id="259" r:id="rId11"/>
    <p:sldId id="280" r:id="rId12"/>
    <p:sldId id="281" r:id="rId13"/>
    <p:sldId id="261" r:id="rId14"/>
    <p:sldId id="262" r:id="rId15"/>
    <p:sldId id="291" r:id="rId16"/>
    <p:sldId id="290" r:id="rId17"/>
    <p:sldId id="285" r:id="rId18"/>
    <p:sldId id="286" r:id="rId19"/>
    <p:sldId id="287" r:id="rId20"/>
    <p:sldId id="282" r:id="rId21"/>
    <p:sldId id="264" r:id="rId22"/>
    <p:sldId id="293" r:id="rId23"/>
    <p:sldId id="294" r:id="rId24"/>
    <p:sldId id="265" r:id="rId25"/>
    <p:sldId id="266" r:id="rId26"/>
    <p:sldId id="283" r:id="rId27"/>
    <p:sldId id="284" r:id="rId28"/>
    <p:sldId id="267" r:id="rId29"/>
    <p:sldId id="292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18AFE8-F6D8-DB5A-0524-71AD1885C0A4}" v="564" dt="2022-03-02T14:33:48.764"/>
    <p1510:client id="{A8DED624-398B-57C9-558B-F74FFA8BE4F5}" v="18" dt="2022-03-02T19:26:17.718"/>
    <p1510:client id="{C02FE6BF-21BC-49F6-9180-7C28B148C55A}" v="715" dt="2022-03-02T05:00:15.222"/>
    <p1510:client id="{FBB6BA6B-C3C4-689F-0E5C-96119689E876}" v="235" dt="2022-03-02T14:57:35.297"/>
    <p1510:client id="{FCE75D60-A3B2-C687-288A-56180E4A688E}" v="235" dt="2022-03-02T19:24:38.1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1B85CD-7265-4F67-B315-20BD2935D947}" type="datetimeFigureOut">
              <a:rPr lang="en-CA" smtClean="0"/>
              <a:t>2022-03-02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C6FA27-9DE8-4189-82CC-904868B79D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18200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10AB9-E610-4163-AA8B-4D3FAF7715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16A113-58CA-4DC2-9AD1-D4FD8CB32D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86DAC-431E-4F5B-8058-97C68F01A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81428-736F-4B5E-819B-9EF10FE844FC}" type="datetime1">
              <a:rPr lang="en-CA" smtClean="0"/>
              <a:t>2022-03-02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B3798-FBE9-4DB9-A32B-BA1BDA1C6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9AE24-B213-4DC4-A955-33220D29E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2ED6-DA17-4373-A9A8-A9651F55D52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17130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909C8-DB72-486B-863C-96898703C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84A47-E81D-49A5-A7C0-2719EE7DE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18E46-BA13-4D1A-B092-28ED65ADB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79ED7-C417-4FEB-8FA6-F954EF8BBA5B}" type="datetime1">
              <a:rPr lang="en-CA" smtClean="0"/>
              <a:t>2022-03-02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849A5-C47B-42A3-974B-AFA364287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D4D68-DFD4-4DC6-B349-C7CB8456B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2ED6-DA17-4373-A9A8-A9651F55D52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8749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63DE4-780D-4BAE-B419-1AD8B6DCA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8CE898-7BEA-4ACD-A213-5D9499AE3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00F01-856D-4EA3-ACCF-0919AC126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BBFB4-0332-446E-ABD1-8D0F100F208D}" type="datetime1">
              <a:rPr lang="en-CA" smtClean="0"/>
              <a:t>2022-03-02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3DA1E-5A42-47FF-8E17-4383AAAF5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6CF52-2F16-48E8-891D-CBF940555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2ED6-DA17-4373-A9A8-A9651F55D52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61708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CE01A-E233-4A4D-A212-12B092FC8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8A860-97D5-4960-A6C8-5736AA7B78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89E892-4643-41BD-8981-4B746FED36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5D9418-8EE8-44DC-8D46-874DA48CA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E5F63-3CE4-4329-BAEB-2A55BE2E1B2F}" type="datetime1">
              <a:rPr lang="en-CA" smtClean="0"/>
              <a:t>2022-03-02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3055B-7506-44E2-B70C-6F16E632C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87CF8C-E5F6-44E1-909D-80B016699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2ED6-DA17-4373-A9A8-A9651F55D52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54119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7A76A-2C6A-433F-9298-15950050E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1B76F5-8BAF-4DE3-9844-B55D27863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F4CE0C-690A-4F0A-8BF5-DC4734DEEE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8CCD60-249C-4D74-8FB9-64F789ADFE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BA4174-F784-463D-9809-694C0ADDC5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C48044-BE20-4B49-A8AB-F496F3339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47CC6-FECC-4488-A94C-A9422AAAEBFE}" type="datetime1">
              <a:rPr lang="en-CA" smtClean="0"/>
              <a:t>2022-03-02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059377-A3B3-4379-94CA-D5D43D357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481486-AF0B-461D-B2C4-77D7CA66A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2ED6-DA17-4373-A9A8-A9651F55D52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843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221E2-AFD1-412D-B86B-AB1469F99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F625E1-9605-4A1B-AD47-86C4ACF5F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85697-086C-40EE-B0BA-027104204A9A}" type="datetime1">
              <a:rPr lang="en-CA" smtClean="0"/>
              <a:t>2022-03-02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40D2E-4C84-4B30-A89C-C631207E4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ED5544-0FB0-438A-962E-C06BF813E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2ED6-DA17-4373-A9A8-A9651F55D52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2683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DE8FA3-048A-43E1-BA22-6A2CF114A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996F8-358F-4CBA-9ED0-8F26A34472D2}" type="datetime1">
              <a:rPr lang="en-CA" smtClean="0"/>
              <a:t>2022-03-02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306714-7653-4B19-ACC8-C4DE16F50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EB86CE-6C46-492C-88A4-49BBB1D16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2ED6-DA17-4373-A9A8-A9651F55D52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3621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0C069-97BA-476C-B5B3-AA6708C0C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36526"/>
            <a:ext cx="3932237" cy="98642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E24A1-E22F-4ADC-98DE-38588FA9A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2025" y="0"/>
            <a:ext cx="7419975" cy="68579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094E55-73E2-4032-9496-67D8BDDA90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122948"/>
            <a:ext cx="3932237" cy="4746040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EA2358-0C9D-4B42-AEA4-B1C6CA009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329CE-BA72-4F6A-8E6B-FCE42498E1E5}" type="datetime1">
              <a:rPr lang="en-CA" smtClean="0"/>
              <a:t>2022-03-02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0722F-2489-4C25-BD19-1967049B4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BCAB31-DADC-47B3-ABDC-56C243564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2ED6-DA17-4373-A9A8-A9651F55D52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7351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C8E36-646E-4505-A92F-46E1C0DE8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7FE5B3-2A62-4E06-BB24-EEF1BFF857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F0CE6A-8986-4696-A534-675B509597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B3A86-5F33-4A5E-98DD-0250C8917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33ECC-E829-4640-B1DF-A51D7B681B56}" type="datetime1">
              <a:rPr lang="en-CA" smtClean="0"/>
              <a:t>2022-03-02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049457-7528-4C71-B596-244A27427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5E989B-BF7D-43EA-AB2B-BD1969393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2ED6-DA17-4373-A9A8-A9651F55D52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3127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EE836-C846-4169-9933-56903256B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A52B6D-3202-49DF-A0D9-890C16C55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2B912-7000-4055-9F55-693160915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E5784-F544-49D3-88A9-BD1882889E88}" type="datetime1">
              <a:rPr lang="en-CA" smtClean="0"/>
              <a:t>2022-03-02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9A513-EA1C-4075-81C1-1862A6D55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245C4-AD47-4110-A257-C027808AA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2ED6-DA17-4373-A9A8-A9651F55D52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6970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510C25-3D3D-4615-B19E-E5904396F0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ED780-CC24-4F57-AC76-E8D0F644EE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F6F0B-7F8B-4893-8ED8-A709A9A30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CDCC2-A1A6-4AA7-BA2E-3AB3EC3A9DE6}" type="datetime1">
              <a:rPr lang="en-CA" smtClean="0"/>
              <a:t>2022-03-02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5A55E-2EC6-4E51-8B13-2EA567B20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7280A-1714-49DC-B872-D6C60FCC2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2ED6-DA17-4373-A9A8-A9651F55D52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1760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0805CD-4492-4FE3-A022-1C665F614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18852-1EF2-4702-B5E9-D419E281A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E055D-0467-4910-BC9B-E786692681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C15081-D0C2-4893-98DE-52D221C75C75}" type="datetime1">
              <a:rPr lang="en-CA" smtClean="0"/>
              <a:t>2022-03-02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28F5A-CCE6-4B1C-844B-A0ACB89442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42594-85E9-4961-B6E6-C8AB819D3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A2ED6-DA17-4373-A9A8-A9651F55D52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3303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345CB-59AD-4F4D-8A69-D92818596D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31954"/>
            <a:ext cx="9144000" cy="1026822"/>
          </a:xfrm>
        </p:spPr>
        <p:txBody>
          <a:bodyPr/>
          <a:lstStyle/>
          <a:p>
            <a:r>
              <a:rPr lang="en-CA" dirty="0"/>
              <a:t>Caffeine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36058B-16D9-4243-BFAE-CCF45E29B4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58776"/>
            <a:ext cx="9144000" cy="1655762"/>
          </a:xfrm>
        </p:spPr>
        <p:txBody>
          <a:bodyPr/>
          <a:lstStyle/>
          <a:p>
            <a:r>
              <a:rPr lang="en-CA" dirty="0"/>
              <a:t>in Theory Driven Approaches to Cognitive Enhancement (book download: shorturl.at/vOW56)</a:t>
            </a:r>
          </a:p>
          <a:p>
            <a:r>
              <a:rPr lang="en-CA" dirty="0"/>
              <a:t>Presented by Can Sozuer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A486D-5C62-4985-9961-53DBCD1CF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2ED6-DA17-4373-A9A8-A9651F55D521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36090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EC8D7-53C8-4DA0-B390-B3A1AA131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After this talk…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9E55E-2F89-4F08-AE35-AC2ADD6B3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CA" dirty="0"/>
              <a:t>How much caffeine should I take (on a daily basis)? </a:t>
            </a:r>
          </a:p>
          <a:p>
            <a:r>
              <a:rPr lang="en-CA" dirty="0"/>
              <a:t>“I can’t start my day without a cup of coffee”</a:t>
            </a:r>
          </a:p>
          <a:p>
            <a:r>
              <a:rPr lang="en-CA" dirty="0"/>
              <a:t>I don’t use caffeine regularly, can I take it to enhance my performance during finals season?</a:t>
            </a:r>
          </a:p>
          <a:p>
            <a:r>
              <a:rPr lang="en-CA" dirty="0"/>
              <a:t>I use caffeine regularly, does that make me smarter?</a:t>
            </a:r>
          </a:p>
          <a:p>
            <a:r>
              <a:rPr lang="en-CA" dirty="0"/>
              <a:t>Should I tell my caffeine-addicted aunt to stop drinking coffee?</a:t>
            </a:r>
            <a:endParaRPr lang="en-CA" dirty="0">
              <a:cs typeface="Calibri"/>
            </a:endParaRPr>
          </a:p>
          <a:p>
            <a:pPr marL="0" indent="0">
              <a:buNone/>
            </a:pPr>
            <a:endParaRPr lang="en-CA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A923D-A4E6-4D85-AC6C-23385E9A0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2ED6-DA17-4373-A9A8-A9651F55D521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30773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F0C575-0665-4E87-A5A6-E0FB3BC74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668337"/>
            <a:ext cx="5157787" cy="1012826"/>
          </a:xfrm>
        </p:spPr>
        <p:txBody>
          <a:bodyPr/>
          <a:lstStyle/>
          <a:p>
            <a:r>
              <a:rPr lang="en-CA" dirty="0"/>
              <a:t>Caffeine Trivia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C2A65-A0B9-4C47-BB54-A387C0F4EAB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CA" dirty="0"/>
              <a:t>Absorbed &lt;~45min after oral administration</a:t>
            </a:r>
          </a:p>
          <a:p>
            <a:r>
              <a:rPr lang="en-CA" dirty="0"/>
              <a:t>Peak blood levels in 15-120min </a:t>
            </a:r>
          </a:p>
          <a:p>
            <a:r>
              <a:rPr lang="en-CA" dirty="0"/>
              <a:t>European Food Safety Authority recommends max 400mg/day</a:t>
            </a:r>
          </a:p>
          <a:p>
            <a:r>
              <a:rPr lang="en-CA" dirty="0"/>
              <a:t>Works by blocking adenosine receptors (aka. is an antagonist)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3D134A2-2A83-484E-9075-B1DD15E7A0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668337"/>
            <a:ext cx="5183188" cy="1012826"/>
          </a:xfrm>
        </p:spPr>
        <p:txBody>
          <a:bodyPr/>
          <a:lstStyle/>
          <a:p>
            <a:r>
              <a:rPr lang="en-CA" dirty="0"/>
              <a:t>Caffeine Metabolism is a function of…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CB6F934-53B1-4F4A-80BB-A2072830D2C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CA" dirty="0">
                <a:cs typeface="Calibri"/>
              </a:rPr>
              <a:t>Metabolism rate</a:t>
            </a:r>
          </a:p>
          <a:p>
            <a:r>
              <a:rPr lang="en-CA" dirty="0">
                <a:cs typeface="Calibri"/>
              </a:rPr>
              <a:t>Age</a:t>
            </a:r>
            <a:endParaRPr lang="en-CA" dirty="0"/>
          </a:p>
          <a:p>
            <a:r>
              <a:rPr lang="en-CA" dirty="0">
                <a:cs typeface="Calibri"/>
              </a:rPr>
              <a:t>Previous caffeine use</a:t>
            </a:r>
          </a:p>
          <a:p>
            <a:r>
              <a:rPr lang="en-CA" dirty="0"/>
              <a:t>Umbrella terms </a:t>
            </a:r>
            <a:r>
              <a:rPr lang="en-CA" dirty="0">
                <a:sym typeface="Wingdings" panose="05000000000000000000" pitchFamily="2" charset="2"/>
              </a:rPr>
              <a:t> caffeine naivety, caffeine sensitivity</a:t>
            </a:r>
            <a:endParaRPr lang="en-CA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5B01F6-0558-4EC2-9E24-A3C2E717B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2ED6-DA17-4373-A9A8-A9651F55D521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4611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DE38B-DB46-4E0F-83E5-8A3405C2A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Mechanism*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FDF375E-C013-4BC4-A045-F3707B7447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98397" y="345"/>
            <a:ext cx="6393603" cy="685765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CF15BB-4B55-4B7B-8499-AE27B05911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411704"/>
            <a:ext cx="3932237" cy="53199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CA" dirty="0"/>
              <a:t>Caffeine doesn’t bind to membrane receptors</a:t>
            </a:r>
          </a:p>
          <a:p>
            <a:r>
              <a:rPr lang="en-CA" dirty="0"/>
              <a:t>A_2A and D_1 and D_2 receptors are both high in dopamine rich areas. </a:t>
            </a:r>
          </a:p>
          <a:p>
            <a:r>
              <a:rPr lang="en-CA" dirty="0"/>
              <a:t>At &gt;500mg doses intracellular calcium are mobilized and </a:t>
            </a:r>
            <a:r>
              <a:rPr lang="en-CA" dirty="0" err="1"/>
              <a:t>phosphodiesterases</a:t>
            </a:r>
            <a:r>
              <a:rPr lang="en-CA" dirty="0"/>
              <a:t> are inhibited</a:t>
            </a:r>
          </a:p>
          <a:p>
            <a:r>
              <a:rPr lang="en-CA" dirty="0">
                <a:cs typeface="Calibri" panose="020F0502020204030204"/>
              </a:rPr>
              <a:t>cAMP levels increase 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B15ECF-17FA-4AF6-8524-5FB51A06F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2ED6-DA17-4373-A9A8-A9651F55D521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25749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DE38B-DB46-4E0F-83E5-8A3405C2A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Mechanism*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FDF375E-C013-4BC4-A045-F3707B7447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98397" y="345"/>
            <a:ext cx="6393603" cy="685765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CF15BB-4B55-4B7B-8499-AE27B05911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411704"/>
            <a:ext cx="3932237" cy="53199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CA" dirty="0"/>
              <a:t>Caffeine doesn’t bind to membrane receptors</a:t>
            </a:r>
          </a:p>
          <a:p>
            <a:r>
              <a:rPr lang="en-CA" dirty="0"/>
              <a:t>A_2A and D_1 and D_2 receptors are both high in dopamine rich areas. </a:t>
            </a:r>
          </a:p>
          <a:p>
            <a:r>
              <a:rPr lang="en-CA" dirty="0"/>
              <a:t>At &gt;500mg doses intracellular calcium are mobilized and </a:t>
            </a:r>
            <a:r>
              <a:rPr lang="en-CA" dirty="0" err="1"/>
              <a:t>phosphodiesterases</a:t>
            </a:r>
            <a:r>
              <a:rPr lang="en-CA" dirty="0"/>
              <a:t> are inhibited</a:t>
            </a:r>
          </a:p>
          <a:p>
            <a:r>
              <a:rPr lang="en-CA" dirty="0">
                <a:cs typeface="Calibri" panose="020F0502020204030204"/>
              </a:rPr>
              <a:t>cAMP levels increase 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B15ECF-17FA-4AF6-8524-5FB51A06F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2ED6-DA17-4373-A9A8-A9651F55D521}" type="slidenum">
              <a:rPr lang="en-CA" smtClean="0"/>
              <a:t>5</a:t>
            </a:fld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45B70C-AE28-4936-A399-A3AC0B66E35D}"/>
              </a:ext>
            </a:extLst>
          </p:cNvPr>
          <p:cNvSpPr/>
          <p:nvPr/>
        </p:nvSpPr>
        <p:spPr>
          <a:xfrm>
            <a:off x="5799817" y="3250746"/>
            <a:ext cx="6304643" cy="7801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711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DE38B-DB46-4E0F-83E5-8A3405C2A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Mechanism*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FDF375E-C013-4BC4-A045-F3707B7447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98397" y="345"/>
            <a:ext cx="6393603" cy="685765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CF15BB-4B55-4B7B-8499-AE27B05911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411704"/>
            <a:ext cx="3932237" cy="53199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CA" dirty="0"/>
              <a:t>Caffeine doesn’t bind to membrane receptors</a:t>
            </a:r>
          </a:p>
          <a:p>
            <a:r>
              <a:rPr lang="en-CA" dirty="0"/>
              <a:t>A_2A and D_1 and D_2 receptors are both high in dopamine rich areas. </a:t>
            </a:r>
          </a:p>
          <a:p>
            <a:r>
              <a:rPr lang="en-CA" dirty="0"/>
              <a:t>At &gt;500mg doses intracellular calcium are mobilized and </a:t>
            </a:r>
            <a:r>
              <a:rPr lang="en-CA" dirty="0" err="1"/>
              <a:t>phosphodiesterases</a:t>
            </a:r>
            <a:r>
              <a:rPr lang="en-CA" dirty="0"/>
              <a:t> are inhibited</a:t>
            </a:r>
          </a:p>
          <a:p>
            <a:r>
              <a:rPr lang="en-CA" dirty="0">
                <a:cs typeface="Calibri" panose="020F0502020204030204"/>
              </a:rPr>
              <a:t>cAMP levels increase 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B15ECF-17FA-4AF6-8524-5FB51A06F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2ED6-DA17-4373-A9A8-A9651F55D521}" type="slidenum">
              <a:rPr lang="en-CA" smtClean="0"/>
              <a:t>6</a:t>
            </a:fld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F90BAB-4C9A-4D0F-AEEF-DB4BD07AC3F0}"/>
              </a:ext>
            </a:extLst>
          </p:cNvPr>
          <p:cNvSpPr/>
          <p:nvPr/>
        </p:nvSpPr>
        <p:spPr>
          <a:xfrm>
            <a:off x="6362246" y="4665888"/>
            <a:ext cx="2349501" cy="2159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353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F6BF1-5ED7-4F4D-9BBE-954C8EF65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9FD090-3DCE-4FD2-8087-C7BC64E1F62C}"/>
              </a:ext>
            </a:extLst>
          </p:cNvPr>
          <p:cNvSpPr/>
          <p:nvPr/>
        </p:nvSpPr>
        <p:spPr>
          <a:xfrm>
            <a:off x="838200" y="2065421"/>
            <a:ext cx="2755232" cy="272715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3200" dirty="0"/>
              <a:t>Adenosine receptor activation blocks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A6F5DA-D044-46BC-9B12-A2388FABEDA8}"/>
              </a:ext>
            </a:extLst>
          </p:cNvPr>
          <p:cNvSpPr/>
          <p:nvPr/>
        </p:nvSpPr>
        <p:spPr>
          <a:xfrm>
            <a:off x="8402054" y="552658"/>
            <a:ext cx="2951746" cy="95049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3200" dirty="0"/>
              <a:t>Acetylcholine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B1E9FA8-C64B-4A8F-A46C-C710D14BCD98}"/>
              </a:ext>
            </a:extLst>
          </p:cNvPr>
          <p:cNvSpPr/>
          <p:nvPr/>
        </p:nvSpPr>
        <p:spPr>
          <a:xfrm>
            <a:off x="8402054" y="2165934"/>
            <a:ext cx="2951746" cy="95049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3200" dirty="0"/>
              <a:t>Dopamine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F9B9D51-0895-4A17-A591-CA0D3D9A3B81}"/>
              </a:ext>
            </a:extLst>
          </p:cNvPr>
          <p:cNvSpPr/>
          <p:nvPr/>
        </p:nvSpPr>
        <p:spPr>
          <a:xfrm>
            <a:off x="8402054" y="3682164"/>
            <a:ext cx="2951748" cy="95049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3200" dirty="0"/>
              <a:t>Norepinephrine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91E54B2-9DE7-43A0-92F7-93E0B87A96F4}"/>
              </a:ext>
            </a:extLst>
          </p:cNvPr>
          <p:cNvSpPr/>
          <p:nvPr/>
        </p:nvSpPr>
        <p:spPr>
          <a:xfrm>
            <a:off x="8402053" y="5287252"/>
            <a:ext cx="2951747" cy="95049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3200" dirty="0"/>
              <a:t>Serotonin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72E469E-09F3-4D26-BDEB-53E68237CF46}"/>
              </a:ext>
            </a:extLst>
          </p:cNvPr>
          <p:cNvCxnSpPr>
            <a:cxnSpLocks/>
            <a:stCxn id="4" idx="3"/>
            <a:endCxn id="21" idx="1"/>
          </p:cNvCxnSpPr>
          <p:nvPr/>
        </p:nvCxnSpPr>
        <p:spPr>
          <a:xfrm flipV="1">
            <a:off x="3593432" y="1027906"/>
            <a:ext cx="4808622" cy="24010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1A8A6DB-5424-44F8-AA6C-D11E62D8A6A2}"/>
              </a:ext>
            </a:extLst>
          </p:cNvPr>
          <p:cNvCxnSpPr>
            <a:cxnSpLocks/>
            <a:stCxn id="4" idx="3"/>
            <a:endCxn id="22" idx="1"/>
          </p:cNvCxnSpPr>
          <p:nvPr/>
        </p:nvCxnSpPr>
        <p:spPr>
          <a:xfrm flipV="1">
            <a:off x="3593432" y="2641182"/>
            <a:ext cx="4808622" cy="787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D7F902E-43DC-4715-A5C2-15617328E753}"/>
              </a:ext>
            </a:extLst>
          </p:cNvPr>
          <p:cNvCxnSpPr>
            <a:cxnSpLocks/>
            <a:stCxn id="4" idx="3"/>
            <a:endCxn id="23" idx="1"/>
          </p:cNvCxnSpPr>
          <p:nvPr/>
        </p:nvCxnSpPr>
        <p:spPr>
          <a:xfrm>
            <a:off x="3593432" y="3429000"/>
            <a:ext cx="4808622" cy="728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A2EB9EC-6028-4E11-94DF-E5A3E68557DB}"/>
              </a:ext>
            </a:extLst>
          </p:cNvPr>
          <p:cNvCxnSpPr>
            <a:cxnSpLocks/>
            <a:stCxn id="4" idx="3"/>
            <a:endCxn id="24" idx="1"/>
          </p:cNvCxnSpPr>
          <p:nvPr/>
        </p:nvCxnSpPr>
        <p:spPr>
          <a:xfrm>
            <a:off x="3593432" y="3429000"/>
            <a:ext cx="4808621" cy="2333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2961B1-25FE-4E52-86F6-E40935D9A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2ED6-DA17-4373-A9A8-A9651F55D521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5776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8189504-48A1-4584-A518-2B0461D4C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767" y="800864"/>
            <a:ext cx="3128210" cy="593558"/>
          </a:xfrm>
        </p:spPr>
        <p:txBody>
          <a:bodyPr/>
          <a:lstStyle/>
          <a:p>
            <a:r>
              <a:rPr lang="en-CA" dirty="0"/>
              <a:t>cAMP Pathway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93DE45C-53AD-4232-9375-02F912C2D3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80753" y="0"/>
            <a:ext cx="8011247" cy="70855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3BC05A7-A1BC-4130-9132-C85583C306E6}"/>
              </a:ext>
            </a:extLst>
          </p:cNvPr>
          <p:cNvSpPr txBox="1"/>
          <p:nvPr/>
        </p:nvSpPr>
        <p:spPr>
          <a:xfrm>
            <a:off x="181367" y="5165558"/>
            <a:ext cx="39993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effectLst/>
              </a:rPr>
              <a:t>Sassone-Corsi</a:t>
            </a:r>
            <a:r>
              <a:rPr lang="en-US" dirty="0">
                <a:effectLst/>
              </a:rPr>
              <a:t>, P. (2012). The cyclic AMP pathway. </a:t>
            </a:r>
            <a:r>
              <a:rPr lang="en-US" i="1" dirty="0">
                <a:effectLst/>
              </a:rPr>
              <a:t>Cold Spring Harbor Perspectives in Biology</a:t>
            </a:r>
            <a:r>
              <a:rPr lang="en-US" dirty="0">
                <a:effectLst/>
              </a:rPr>
              <a:t>, </a:t>
            </a:r>
            <a:r>
              <a:rPr lang="en-US" i="1" dirty="0">
                <a:effectLst/>
              </a:rPr>
              <a:t>4</a:t>
            </a:r>
            <a:r>
              <a:rPr lang="en-US" dirty="0">
                <a:effectLst/>
              </a:rPr>
              <a:t>(12). https://doi.org/10.1101/cshperspect.a011148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3995A2-A0DB-4576-8689-BD3CFDF5B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2ED6-DA17-4373-A9A8-A9651F55D521}" type="slidenum">
              <a:rPr lang="en-CA" smtClean="0"/>
              <a:t>8</a:t>
            </a:fld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F9C0E9-295C-4AD2-89EF-52481AFF1956}"/>
              </a:ext>
            </a:extLst>
          </p:cNvPr>
          <p:cNvSpPr/>
          <p:nvPr/>
        </p:nvSpPr>
        <p:spPr>
          <a:xfrm>
            <a:off x="7387317" y="1400173"/>
            <a:ext cx="834573" cy="6259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809E63-EBEF-4EF6-8A1B-EDC2CB531BD9}"/>
              </a:ext>
            </a:extLst>
          </p:cNvPr>
          <p:cNvSpPr txBox="1"/>
          <p:nvPr/>
        </p:nvSpPr>
        <p:spPr>
          <a:xfrm>
            <a:off x="814614" y="1712685"/>
            <a:ext cx="2743199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Mixed results of caffeine on memory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Calibri"/>
              </a:rPr>
              <a:t>Unintentional learning benefits more in humans 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Calibri"/>
              </a:rPr>
              <a:t>Memory retention but not acquisition benefits in rodents</a:t>
            </a:r>
          </a:p>
          <a:p>
            <a:pPr marL="285750" indent="-285750">
              <a:buFont typeface="Arial"/>
              <a:buChar char="•"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6267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5EBC-FBFB-4D76-AE18-F2ADFCDFA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Short Term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03A37-31F7-48A5-9264-4281932CC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Withdrawal reversal hypothesis of caffeine </a:t>
            </a:r>
          </a:p>
          <a:p>
            <a:r>
              <a:rPr lang="en-CA" dirty="0"/>
              <a:t>Withdrawal symptoms:</a:t>
            </a:r>
          </a:p>
          <a:p>
            <a:pPr lvl="1"/>
            <a:r>
              <a:rPr lang="en-US" dirty="0"/>
              <a:t>Headache</a:t>
            </a:r>
          </a:p>
          <a:p>
            <a:pPr lvl="1"/>
            <a:r>
              <a:rPr lang="en-US" dirty="0"/>
              <a:t>Fatigue</a:t>
            </a:r>
          </a:p>
          <a:p>
            <a:pPr lvl="1"/>
            <a:r>
              <a:rPr lang="en-US" dirty="0"/>
              <a:t>decreased energy and alertness</a:t>
            </a:r>
          </a:p>
          <a:p>
            <a:pPr lvl="1"/>
            <a:r>
              <a:rPr lang="en-US" dirty="0"/>
              <a:t>depressed mood</a:t>
            </a:r>
            <a:endParaRPr lang="en-CA" dirty="0"/>
          </a:p>
          <a:p>
            <a:r>
              <a:rPr lang="en-US" dirty="0"/>
              <a:t>“there are no net benefits of caffeine consumption, but rather that caffeine consumption after overnight abstention brings regular users back to their performance and energy baseline”</a:t>
            </a:r>
            <a:endParaRPr lang="en-CA" dirty="0"/>
          </a:p>
          <a:p>
            <a:r>
              <a:rPr lang="en-CA" dirty="0"/>
              <a:t>Conflicting results?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C59B3-C3A1-49A3-B9DE-C1A85E622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2ED6-DA17-4373-A9A8-A9651F55D521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3790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72593AE-1F8A-499B-87B8-6AC99DCF0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Short Term Effects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A8CB95-7981-44B8-81C8-F52EDA000B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Richardson et al. 1995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6C6EE1-B188-43DE-8071-53BCF0D77B9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&gt;200mg/day = regular users</a:t>
            </a:r>
          </a:p>
          <a:p>
            <a:r>
              <a:rPr lang="en-CA" dirty="0"/>
              <a:t>&lt;15mg/day = non-users</a:t>
            </a:r>
          </a:p>
          <a:p>
            <a:r>
              <a:rPr lang="en-CA" dirty="0"/>
              <a:t>Max use = 1000mg/day</a:t>
            </a:r>
          </a:p>
          <a:p>
            <a:r>
              <a:rPr lang="en-CA" dirty="0"/>
              <a:t>70 or 250mg doses</a:t>
            </a:r>
          </a:p>
          <a:p>
            <a:r>
              <a:rPr lang="en-CA" dirty="0"/>
              <a:t>Finds negative effect of withdrawal reversal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939592-F78F-4487-9A6C-A975469D4B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CA" dirty="0"/>
              <a:t>Haskell et al. 2005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1BAEF8F-C67F-465F-8C76-B5500A44FB6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CA" dirty="0"/>
              <a:t>&gt;50mg/day = regular users (mean = 217mg/day)</a:t>
            </a:r>
            <a:endParaRPr lang="en-US" dirty="0">
              <a:ea typeface="+mn-lt"/>
              <a:cs typeface="+mn-lt"/>
            </a:endParaRPr>
          </a:p>
          <a:p>
            <a:r>
              <a:rPr lang="en-CA" dirty="0"/>
              <a:t>&lt;50mg/day = non-users (mean = 20mg/day)</a:t>
            </a:r>
            <a:endParaRPr lang="en-CA" dirty="0">
              <a:ea typeface="+mn-lt"/>
              <a:cs typeface="+mn-lt"/>
            </a:endParaRPr>
          </a:p>
          <a:p>
            <a:r>
              <a:rPr lang="en-CA" dirty="0"/>
              <a:t>Regular users: 60-800mg/day</a:t>
            </a:r>
            <a:endParaRPr lang="en-US" dirty="0">
              <a:ea typeface="+mn-lt"/>
              <a:cs typeface="+mn-lt"/>
            </a:endParaRPr>
          </a:p>
          <a:p>
            <a:r>
              <a:rPr lang="en-CA" dirty="0"/>
              <a:t>Max use = 800mg/day</a:t>
            </a:r>
            <a:endParaRPr lang="en-US" dirty="0">
              <a:ea typeface="+mn-lt"/>
              <a:cs typeface="+mn-lt"/>
            </a:endParaRPr>
          </a:p>
          <a:p>
            <a:r>
              <a:rPr lang="en-CA" dirty="0">
                <a:cs typeface="Calibri"/>
              </a:rPr>
              <a:t>75 or 150 mg doses</a:t>
            </a:r>
            <a:endParaRPr lang="en-US" dirty="0">
              <a:ea typeface="+mn-lt"/>
              <a:cs typeface="+mn-lt"/>
            </a:endParaRPr>
          </a:p>
          <a:p>
            <a:r>
              <a:rPr lang="en-CA" dirty="0"/>
              <a:t>Does not find effect of withdrawal reversal</a:t>
            </a:r>
            <a:endParaRPr lang="en-US" dirty="0">
              <a:ea typeface="+mn-lt"/>
              <a:cs typeface="+mn-lt"/>
            </a:endParaRPr>
          </a:p>
          <a:p>
            <a:endParaRPr lang="en-CA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CA" dirty="0"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4ACE3-CD44-4653-9A5A-9978EE1E6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2ED6-DA17-4373-A9A8-A9651F55D521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096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72593AE-1F8A-499B-87B8-6AC99DCF0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Short Term Effects  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A8CB95-7981-44B8-81C8-F52EDA000B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Smit and Rogers, 2020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6C6EE1-B188-43DE-8071-53BCF0D77B9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&gt;200mg/day = high consumers</a:t>
            </a:r>
          </a:p>
          <a:p>
            <a:r>
              <a:rPr lang="en-CA" dirty="0"/>
              <a:t>&lt;100mg/day = low consumers</a:t>
            </a:r>
            <a:endParaRPr lang="en-US" dirty="0"/>
          </a:p>
          <a:p>
            <a:r>
              <a:rPr lang="en-US" dirty="0"/>
              <a:t>12.5,  25,  50  and 100 mg  caffeine</a:t>
            </a:r>
          </a:p>
          <a:p>
            <a:r>
              <a:rPr lang="en-CA" dirty="0"/>
              <a:t>Finds POSITIVE effect of withdrawal reversal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939592-F78F-4487-9A6C-A975469D4B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CA" dirty="0"/>
              <a:t>Haskell et al. 2005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1BAEF8F-C67F-465F-8C76-B5500A44FB6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CA" dirty="0"/>
              <a:t>&gt;50mg/day = regular users (mean = 217mg/day)</a:t>
            </a:r>
            <a:endParaRPr lang="en-US" dirty="0">
              <a:ea typeface="+mn-lt"/>
              <a:cs typeface="+mn-lt"/>
            </a:endParaRPr>
          </a:p>
          <a:p>
            <a:r>
              <a:rPr lang="en-CA" dirty="0"/>
              <a:t>&lt;50mg/day = non-users (mean = 20mg/day)</a:t>
            </a:r>
            <a:endParaRPr lang="en-CA" dirty="0">
              <a:ea typeface="+mn-lt"/>
              <a:cs typeface="+mn-lt"/>
            </a:endParaRPr>
          </a:p>
          <a:p>
            <a:r>
              <a:rPr lang="en-CA" dirty="0"/>
              <a:t>Regular users: 60-800mg/day</a:t>
            </a:r>
            <a:endParaRPr lang="en-US" dirty="0">
              <a:ea typeface="+mn-lt"/>
              <a:cs typeface="+mn-lt"/>
            </a:endParaRPr>
          </a:p>
          <a:p>
            <a:r>
              <a:rPr lang="en-CA" dirty="0"/>
              <a:t>Max use = 800mg/day</a:t>
            </a:r>
            <a:endParaRPr lang="en-US" dirty="0">
              <a:ea typeface="+mn-lt"/>
              <a:cs typeface="+mn-lt"/>
            </a:endParaRPr>
          </a:p>
          <a:p>
            <a:r>
              <a:rPr lang="en-CA" dirty="0"/>
              <a:t>75 or 150 mg doses</a:t>
            </a:r>
            <a:endParaRPr lang="en-US" dirty="0">
              <a:ea typeface="+mn-lt"/>
              <a:cs typeface="+mn-lt"/>
            </a:endParaRPr>
          </a:p>
          <a:p>
            <a:r>
              <a:rPr lang="en-CA" dirty="0"/>
              <a:t>Does not find effect of withdrawal reversal</a:t>
            </a:r>
            <a:endParaRPr lang="en-US" dirty="0">
              <a:ea typeface="+mn-lt"/>
              <a:cs typeface="+mn-lt"/>
            </a:endParaRPr>
          </a:p>
          <a:p>
            <a:endParaRPr lang="en-CA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CA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4ACE3-CD44-4653-9A5A-9978EE1E6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2ED6-DA17-4373-A9A8-A9651F55D521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97664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72593AE-1F8A-499B-87B8-6AC99DCF0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Short Term Effects 3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A8CB95-7981-44B8-81C8-F52EDA000B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>
                <a:ea typeface="+mn-lt"/>
                <a:cs typeface="+mn-lt"/>
              </a:rPr>
              <a:t>Smit and Rogers, 2020</a:t>
            </a:r>
            <a:endParaRPr lang="en-CA" b="0" dirty="0">
              <a:ea typeface="+mn-lt"/>
              <a:cs typeface="+mn-lt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6C6EE1-B188-43DE-8071-53BCF0D77B9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CA" dirty="0"/>
              <a:t>&gt;200mg/day = high consumers</a:t>
            </a:r>
          </a:p>
          <a:p>
            <a:r>
              <a:rPr lang="en-CA" dirty="0"/>
              <a:t>&lt;100mg/day = low consumers</a:t>
            </a:r>
            <a:endParaRPr lang="en-US" dirty="0"/>
          </a:p>
          <a:p>
            <a:r>
              <a:rPr lang="en-US" dirty="0"/>
              <a:t>12.5,  25,  50  and 100 mg  caffeine</a:t>
            </a:r>
          </a:p>
          <a:p>
            <a:r>
              <a:rPr lang="en-CA" dirty="0"/>
              <a:t>Finds POSITIVE effect of withdrawal reversal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939592-F78F-4487-9A6C-A975469D4B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CA" dirty="0"/>
              <a:t>Questions to ask	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1BAEF8F-C67F-465F-8C76-B5500A44FB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19186"/>
            <a:ext cx="5183188" cy="47852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CA" dirty="0"/>
              <a:t>Is there a monotonic correlation between caffeine and some measure?</a:t>
            </a:r>
          </a:p>
          <a:p>
            <a:r>
              <a:rPr lang="en-CA" dirty="0"/>
              <a:t>Can we assume it for all values of some independent variable?</a:t>
            </a:r>
          </a:p>
          <a:p>
            <a:r>
              <a:rPr lang="en-CA" dirty="0"/>
              <a:t>Can we assume it for all values of some </a:t>
            </a:r>
            <a:r>
              <a:rPr lang="en-CA" i="1" dirty="0"/>
              <a:t>third </a:t>
            </a:r>
            <a:r>
              <a:rPr lang="en-CA" dirty="0"/>
              <a:t>variable?</a:t>
            </a:r>
          </a:p>
          <a:p>
            <a:r>
              <a:rPr lang="en-CA" dirty="0">
                <a:cs typeface="Calibri" panose="020F0502020204030204"/>
              </a:rPr>
              <a:t>Can we assume a constant rate of increase? </a:t>
            </a:r>
          </a:p>
          <a:p>
            <a:endParaRPr lang="en-CA" dirty="0">
              <a:cs typeface="Calibri" panose="020F0502020204030204"/>
            </a:endParaRPr>
          </a:p>
          <a:p>
            <a:pPr marL="0" indent="0">
              <a:buNone/>
            </a:pPr>
            <a:endParaRPr lang="en-CA" dirty="0"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4ACE3-CD44-4653-9A5A-9978EE1E6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2ED6-DA17-4373-A9A8-A9651F55D521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2739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1C2A9-EDA7-4E8F-B3E8-F64787795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cs typeface="Calibri Light"/>
              </a:rPr>
              <a:t>Regular Users 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0E44B-29EF-4E1B-AA56-01FCF6E41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CA" dirty="0">
                <a:cs typeface="Calibri"/>
              </a:rPr>
              <a:t>Possible confounds:</a:t>
            </a:r>
          </a:p>
          <a:p>
            <a:pPr lvl="1"/>
            <a:r>
              <a:rPr lang="en-CA" dirty="0">
                <a:cs typeface="Calibri"/>
              </a:rPr>
              <a:t>Mood </a:t>
            </a:r>
          </a:p>
          <a:p>
            <a:pPr lvl="1"/>
            <a:r>
              <a:rPr lang="en-CA" dirty="0">
                <a:cs typeface="Calibri"/>
              </a:rPr>
              <a:t>Expectancy in the morning </a:t>
            </a:r>
          </a:p>
          <a:p>
            <a:r>
              <a:rPr lang="en-CA" dirty="0">
                <a:cs typeface="Calibri"/>
              </a:rPr>
              <a:t>"</a:t>
            </a:r>
            <a:r>
              <a:rPr lang="en-CA" dirty="0">
                <a:ea typeface="+mn-lt"/>
                <a:cs typeface="+mn-lt"/>
              </a:rPr>
              <a:t>it is difﬁcult to determine </a:t>
            </a:r>
            <a:r>
              <a:rPr lang="en-CA" sz="3600" b="1" dirty="0">
                <a:ea typeface="+mn-lt"/>
                <a:cs typeface="+mn-lt"/>
              </a:rPr>
              <a:t>whether</a:t>
            </a:r>
            <a:r>
              <a:rPr lang="en-CA" dirty="0">
                <a:ea typeface="+mn-lt"/>
                <a:cs typeface="+mn-lt"/>
              </a:rPr>
              <a:t> improved performance is a consequence of changes in expectancy, alertness, and mood, reversal of withdrawal symptoms, or the caffeine"</a:t>
            </a:r>
          </a:p>
          <a:p>
            <a:r>
              <a:rPr lang="en-CA" dirty="0">
                <a:ea typeface="+mn-lt"/>
                <a:cs typeface="+mn-lt"/>
              </a:rPr>
              <a:t>Stronger effects at low alertness, low expectancy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96706-206F-4E59-88C3-DF0FE6EAB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2ED6-DA17-4373-A9A8-A9651F55D521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49649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CC3AF-A112-433A-8EB1-7A9EC662B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cs typeface="Calibri Light"/>
              </a:rPr>
              <a:t>Non-Users (&lt;300mg/week  = &lt;43mg/day)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FAFEB-A7B4-436E-ADCF-83C7CEAC6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CA" dirty="0">
                <a:cs typeface="Calibri"/>
              </a:rPr>
              <a:t>A term with less variation, I hope </a:t>
            </a:r>
          </a:p>
          <a:p>
            <a:r>
              <a:rPr lang="en-CA" dirty="0">
                <a:cs typeface="Calibri"/>
              </a:rPr>
              <a:t>Large increases on (Childs and De Wit, 2006)</a:t>
            </a:r>
          </a:p>
          <a:p>
            <a:r>
              <a:rPr lang="en-CA" dirty="0">
                <a:cs typeface="Calibri"/>
              </a:rPr>
              <a:t>Physiological: </a:t>
            </a:r>
          </a:p>
          <a:p>
            <a:pPr lvl="1"/>
            <a:r>
              <a:rPr lang="en-CA" dirty="0">
                <a:cs typeface="Calibri"/>
              </a:rPr>
              <a:t>Blood pressure</a:t>
            </a:r>
          </a:p>
          <a:p>
            <a:pPr lvl="1"/>
            <a:r>
              <a:rPr lang="en-CA" dirty="0">
                <a:cs typeface="Calibri"/>
              </a:rPr>
              <a:t>Feelings of arousal</a:t>
            </a:r>
          </a:p>
          <a:p>
            <a:r>
              <a:rPr lang="en-CA" dirty="0">
                <a:cs typeface="Calibri"/>
              </a:rPr>
              <a:t>And psychological measures:</a:t>
            </a:r>
          </a:p>
          <a:p>
            <a:pPr lvl="1"/>
            <a:r>
              <a:rPr lang="en-CA" dirty="0">
                <a:cs typeface="Calibri"/>
              </a:rPr>
              <a:t>Positive mood</a:t>
            </a:r>
          </a:p>
          <a:p>
            <a:pPr lvl="1"/>
            <a:r>
              <a:rPr lang="en-CA" dirty="0">
                <a:cs typeface="Calibri"/>
              </a:rPr>
              <a:t>Attention </a:t>
            </a:r>
          </a:p>
          <a:p>
            <a:r>
              <a:rPr lang="en-CA" dirty="0">
                <a:cs typeface="Calibri"/>
              </a:rPr>
              <a:t>Doses ? 0, 50, 150, 450mg</a:t>
            </a:r>
          </a:p>
          <a:p>
            <a:endParaRPr lang="en-CA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CB7B3-2622-4A9F-9FF2-E8C030E7F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2ED6-DA17-4373-A9A8-A9651F55D521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887610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9E0A6-5DC0-44C2-8E1B-B304168A0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cs typeface="Calibri Light"/>
              </a:rPr>
              <a:t>&lt;43mg/day (Childs and De Wit, 2006)</a:t>
            </a:r>
            <a:endParaRPr lang="en-CA" dirty="0"/>
          </a:p>
        </p:txBody>
      </p:sp>
      <p:pic>
        <p:nvPicPr>
          <p:cNvPr id="6" name="Picture 6" descr="Diagram, schematic&#10;&#10;Description automatically generated">
            <a:extLst>
              <a:ext uri="{FF2B5EF4-FFF2-40B4-BE49-F238E27FC236}">
                <a16:creationId xmlns:a16="http://schemas.microsoft.com/office/drawing/2014/main" id="{9BAB28E1-8397-4080-B6E0-35DDEA37DF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12267" y="6560"/>
            <a:ext cx="6125113" cy="6830503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362037-5F83-49EE-9BBB-98AB2089C65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Mostly monotonic changes</a:t>
            </a:r>
          </a:p>
          <a:p>
            <a:r>
              <a:rPr lang="en-US" dirty="0">
                <a:cs typeface="Calibri"/>
              </a:rPr>
              <a:t>Somewhat logarithmic changes </a:t>
            </a:r>
          </a:p>
          <a:p>
            <a:r>
              <a:rPr lang="en-US" dirty="0">
                <a:cs typeface="Calibri"/>
              </a:rPr>
              <a:t>Increased:</a:t>
            </a:r>
          </a:p>
          <a:p>
            <a:pPr marL="457200" indent="-457200">
              <a:buChar char="•"/>
            </a:pPr>
            <a:r>
              <a:rPr lang="en-US" dirty="0">
                <a:cs typeface="Calibri"/>
              </a:rPr>
              <a:t>Anxiety</a:t>
            </a:r>
          </a:p>
          <a:p>
            <a:pPr marL="457200" indent="-457200">
              <a:buChar char="•"/>
            </a:pPr>
            <a:r>
              <a:rPr lang="en-US" dirty="0">
                <a:cs typeface="Calibri"/>
              </a:rPr>
              <a:t>Fatigue</a:t>
            </a:r>
          </a:p>
          <a:p>
            <a:pPr marL="457200" indent="-457200">
              <a:buChar char="•"/>
            </a:pPr>
            <a:r>
              <a:rPr lang="en-US" dirty="0">
                <a:cs typeface="Calibri"/>
              </a:rPr>
              <a:t>POMS Vigor</a:t>
            </a:r>
          </a:p>
          <a:p>
            <a:pPr marL="457200" indent="-457200">
              <a:buChar char="•"/>
            </a:pPr>
            <a:r>
              <a:rPr lang="en-US" dirty="0">
                <a:cs typeface="Calibri"/>
              </a:rPr>
              <a:t>POMS Arousal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1EAF7-69B3-4A54-B94A-8849F68E2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2ED6-DA17-4373-A9A8-A9651F55D521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8302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Diagram, schematic&#10;&#10;Description automatically generated">
            <a:extLst>
              <a:ext uri="{FF2B5EF4-FFF2-40B4-BE49-F238E27FC236}">
                <a16:creationId xmlns:a16="http://schemas.microsoft.com/office/drawing/2014/main" id="{9BAB28E1-8397-4080-B6E0-35DDEA37DF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12267" y="6560"/>
            <a:ext cx="6125113" cy="6830503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362037-5F83-49EE-9BBB-98AB2089C65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Mostly monotonic changes</a:t>
            </a:r>
          </a:p>
          <a:p>
            <a:r>
              <a:rPr lang="en-US" dirty="0">
                <a:cs typeface="Calibri"/>
              </a:rPr>
              <a:t>Somewhat logarithmic changes </a:t>
            </a:r>
          </a:p>
          <a:p>
            <a:r>
              <a:rPr lang="en-US" dirty="0">
                <a:cs typeface="Calibri"/>
              </a:rPr>
              <a:t>Increased:</a:t>
            </a:r>
          </a:p>
          <a:p>
            <a:pPr marL="457200" indent="-457200">
              <a:buChar char="•"/>
            </a:pPr>
            <a:r>
              <a:rPr lang="en-US" dirty="0">
                <a:cs typeface="Calibri"/>
              </a:rPr>
              <a:t>Anxiety</a:t>
            </a:r>
          </a:p>
          <a:p>
            <a:pPr marL="457200" indent="-457200">
              <a:buChar char="•"/>
            </a:pPr>
            <a:r>
              <a:rPr lang="en-US" dirty="0">
                <a:cs typeface="Calibri"/>
              </a:rPr>
              <a:t>Fatigue</a:t>
            </a:r>
          </a:p>
          <a:p>
            <a:pPr marL="457200" indent="-457200">
              <a:buChar char="•"/>
            </a:pPr>
            <a:r>
              <a:rPr lang="en-US" dirty="0">
                <a:cs typeface="Calibri"/>
              </a:rPr>
              <a:t>POMS Vigor</a:t>
            </a:r>
          </a:p>
          <a:p>
            <a:pPr marL="457200" indent="-457200">
              <a:buChar char="•"/>
            </a:pPr>
            <a:r>
              <a:rPr lang="en-US" dirty="0">
                <a:cs typeface="Calibri"/>
              </a:rPr>
              <a:t>POMS Arousal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1EAF7-69B3-4A54-B94A-8849F68E2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2ED6-DA17-4373-A9A8-A9651F55D521}" type="slidenum">
              <a:rPr lang="en-CA" smtClean="0"/>
              <a:t>16</a:t>
            </a:fld>
            <a:endParaRPr lang="en-CA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DB5A83F-C4CE-4019-92B0-9A52F3AC4F95}"/>
              </a:ext>
            </a:extLst>
          </p:cNvPr>
          <p:cNvCxnSpPr/>
          <p:nvPr/>
        </p:nvCxnSpPr>
        <p:spPr>
          <a:xfrm flipV="1">
            <a:off x="6337300" y="656770"/>
            <a:ext cx="823685" cy="102688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0666CE7-E71D-4628-90A3-9C234B023B02}"/>
              </a:ext>
            </a:extLst>
          </p:cNvPr>
          <p:cNvCxnSpPr>
            <a:cxnSpLocks/>
          </p:cNvCxnSpPr>
          <p:nvPr/>
        </p:nvCxnSpPr>
        <p:spPr>
          <a:xfrm flipV="1">
            <a:off x="6418942" y="4757055"/>
            <a:ext cx="823685" cy="102688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067C38A-567F-4E98-940A-280547F769C4}"/>
              </a:ext>
            </a:extLst>
          </p:cNvPr>
          <p:cNvCxnSpPr>
            <a:cxnSpLocks/>
          </p:cNvCxnSpPr>
          <p:nvPr/>
        </p:nvCxnSpPr>
        <p:spPr>
          <a:xfrm flipV="1">
            <a:off x="9095014" y="4339769"/>
            <a:ext cx="823685" cy="102688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62BB3F5-A5D7-4528-B95B-6E1AF5EC87C1}"/>
              </a:ext>
            </a:extLst>
          </p:cNvPr>
          <p:cNvCxnSpPr>
            <a:cxnSpLocks/>
          </p:cNvCxnSpPr>
          <p:nvPr/>
        </p:nvCxnSpPr>
        <p:spPr>
          <a:xfrm>
            <a:off x="9095014" y="1139370"/>
            <a:ext cx="705757" cy="127725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775D1DB8-9F49-4285-B28E-29D1D80A5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36526"/>
            <a:ext cx="3932237" cy="986422"/>
          </a:xfrm>
        </p:spPr>
        <p:txBody>
          <a:bodyPr>
            <a:normAutofit/>
          </a:bodyPr>
          <a:lstStyle/>
          <a:p>
            <a:r>
              <a:rPr lang="en-CA" dirty="0">
                <a:cs typeface="Calibri Light"/>
              </a:rPr>
              <a:t>&lt;43mg/day (Childs and De Wit, 2006)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0480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Diagram, schematic&#10;&#10;Description automatically generated">
            <a:extLst>
              <a:ext uri="{FF2B5EF4-FFF2-40B4-BE49-F238E27FC236}">
                <a16:creationId xmlns:a16="http://schemas.microsoft.com/office/drawing/2014/main" id="{9BAB28E1-8397-4080-B6E0-35DDEA37DF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12267" y="6560"/>
            <a:ext cx="6125113" cy="6830503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362037-5F83-49EE-9BBB-98AB2089C65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Mostly monotonic changes</a:t>
            </a:r>
          </a:p>
          <a:p>
            <a:r>
              <a:rPr lang="en-US" dirty="0">
                <a:cs typeface="Calibri"/>
              </a:rPr>
              <a:t>Somewhat logarithmic changes </a:t>
            </a:r>
          </a:p>
          <a:p>
            <a:r>
              <a:rPr lang="en-US" dirty="0">
                <a:cs typeface="Calibri"/>
              </a:rPr>
              <a:t>Increased:</a:t>
            </a:r>
          </a:p>
          <a:p>
            <a:pPr marL="457200" indent="-457200">
              <a:buChar char="•"/>
            </a:pPr>
            <a:r>
              <a:rPr lang="en-US" dirty="0">
                <a:cs typeface="Calibri"/>
              </a:rPr>
              <a:t>Anxiety</a:t>
            </a:r>
          </a:p>
          <a:p>
            <a:pPr marL="457200" indent="-457200">
              <a:buChar char="•"/>
            </a:pPr>
            <a:r>
              <a:rPr lang="en-US" dirty="0">
                <a:cs typeface="Calibri"/>
              </a:rPr>
              <a:t>Fatigue</a:t>
            </a:r>
          </a:p>
          <a:p>
            <a:pPr marL="457200" indent="-457200">
              <a:buChar char="•"/>
            </a:pPr>
            <a:r>
              <a:rPr lang="en-US" dirty="0">
                <a:cs typeface="Calibri"/>
              </a:rPr>
              <a:t>POMS Vigor</a:t>
            </a:r>
          </a:p>
          <a:p>
            <a:pPr marL="457200" indent="-457200">
              <a:buChar char="•"/>
            </a:pPr>
            <a:r>
              <a:rPr lang="en-US" dirty="0">
                <a:cs typeface="Calibri"/>
              </a:rPr>
              <a:t>POMS Arousal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1EAF7-69B3-4A54-B94A-8849F68E2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2ED6-DA17-4373-A9A8-A9651F55D521}" type="slidenum">
              <a:rPr lang="en-CA" smtClean="0"/>
              <a:t>17</a:t>
            </a:fld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4FFFDC-7EC5-43A9-A05F-714AD9443386}"/>
              </a:ext>
            </a:extLst>
          </p:cNvPr>
          <p:cNvSpPr/>
          <p:nvPr/>
        </p:nvSpPr>
        <p:spPr>
          <a:xfrm>
            <a:off x="6507388" y="2688318"/>
            <a:ext cx="1170215" cy="50800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2FE837-8FE0-4493-ACC4-229615E82550}"/>
              </a:ext>
            </a:extLst>
          </p:cNvPr>
          <p:cNvSpPr/>
          <p:nvPr/>
        </p:nvSpPr>
        <p:spPr>
          <a:xfrm>
            <a:off x="6507388" y="5972174"/>
            <a:ext cx="1170215" cy="50800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FB2B1C-321E-4F69-934B-D202605DA9B1}"/>
              </a:ext>
            </a:extLst>
          </p:cNvPr>
          <p:cNvSpPr/>
          <p:nvPr/>
        </p:nvSpPr>
        <p:spPr>
          <a:xfrm>
            <a:off x="9301388" y="2688317"/>
            <a:ext cx="1170215" cy="50800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AE5327-E54D-4B98-A2DC-C1958E9FED50}"/>
              </a:ext>
            </a:extLst>
          </p:cNvPr>
          <p:cNvSpPr/>
          <p:nvPr/>
        </p:nvSpPr>
        <p:spPr>
          <a:xfrm>
            <a:off x="9301388" y="5972174"/>
            <a:ext cx="1170215" cy="50800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A256FDF-E2D3-40A0-957D-BA0A7346D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36526"/>
            <a:ext cx="3932237" cy="986422"/>
          </a:xfrm>
        </p:spPr>
        <p:txBody>
          <a:bodyPr>
            <a:normAutofit/>
          </a:bodyPr>
          <a:lstStyle/>
          <a:p>
            <a:r>
              <a:rPr lang="en-CA" dirty="0">
                <a:cs typeface="Calibri Light"/>
              </a:rPr>
              <a:t>&lt;43mg/day (Childs and De Wit, 2006)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641542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362037-5F83-49EE-9BBB-98AB2089C65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Mostly monotonic changes</a:t>
            </a:r>
          </a:p>
          <a:p>
            <a:r>
              <a:rPr lang="en-US" dirty="0">
                <a:cs typeface="Calibri"/>
              </a:rPr>
              <a:t>Somewhat logarithmic changes </a:t>
            </a:r>
          </a:p>
          <a:p>
            <a:r>
              <a:rPr lang="en-US" dirty="0">
                <a:cs typeface="Calibri"/>
              </a:rPr>
              <a:t>Increasing blood pressure</a:t>
            </a:r>
          </a:p>
          <a:p>
            <a:r>
              <a:rPr lang="en-US" dirty="0">
                <a:cs typeface="Calibri"/>
              </a:rPr>
              <a:t>Decreasing heart rate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1EAF7-69B3-4A54-B94A-8849F68E2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2ED6-DA17-4373-A9A8-A9651F55D521}" type="slidenum">
              <a:rPr lang="en-CA" smtClean="0"/>
              <a:t>18</a:t>
            </a:fld>
            <a:endParaRPr lang="en-CA"/>
          </a:p>
        </p:txBody>
      </p:sp>
      <p:pic>
        <p:nvPicPr>
          <p:cNvPr id="8" name="Picture 8" descr="Chart, scatter chart&#10;&#10;Description automatically generated">
            <a:extLst>
              <a:ext uri="{FF2B5EF4-FFF2-40B4-BE49-F238E27FC236}">
                <a16:creationId xmlns:a16="http://schemas.microsoft.com/office/drawing/2014/main" id="{DF37FC7C-C042-49AB-B733-14EEB1AD3E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49074" y="1563448"/>
            <a:ext cx="7749575" cy="3874877"/>
          </a:xfr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A797FB9-88A7-431A-9A78-E2BC547CA973}"/>
              </a:ext>
            </a:extLst>
          </p:cNvPr>
          <p:cNvCxnSpPr/>
          <p:nvPr/>
        </p:nvCxnSpPr>
        <p:spPr>
          <a:xfrm>
            <a:off x="5883729" y="3089727"/>
            <a:ext cx="959756" cy="104139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3878C260-9314-45E6-8555-E9DC798F2619}"/>
              </a:ext>
            </a:extLst>
          </p:cNvPr>
          <p:cNvSpPr/>
          <p:nvPr/>
        </p:nvSpPr>
        <p:spPr>
          <a:xfrm>
            <a:off x="5618388" y="4511675"/>
            <a:ext cx="1170215" cy="50800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8844861-DCB6-4CDD-BD0B-6052C81AA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36526"/>
            <a:ext cx="3932237" cy="986422"/>
          </a:xfrm>
        </p:spPr>
        <p:txBody>
          <a:bodyPr>
            <a:normAutofit/>
          </a:bodyPr>
          <a:lstStyle/>
          <a:p>
            <a:r>
              <a:rPr lang="en-CA" dirty="0">
                <a:cs typeface="Calibri Light"/>
              </a:rPr>
              <a:t>&lt;43mg/day (Childs and De Wit, 2006)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144949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362037-5F83-49EE-9BBB-98AB2089C65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Mostly monotonic changes</a:t>
            </a:r>
          </a:p>
          <a:p>
            <a:r>
              <a:rPr lang="en-US" dirty="0">
                <a:cs typeface="Calibri"/>
              </a:rPr>
              <a:t>Somewhat logarithmic changes </a:t>
            </a:r>
          </a:p>
          <a:p>
            <a:r>
              <a:rPr lang="en-US" dirty="0">
                <a:cs typeface="Calibri"/>
              </a:rPr>
              <a:t>Increasing visual vigilance</a:t>
            </a:r>
          </a:p>
          <a:p>
            <a:r>
              <a:rPr lang="en-US" dirty="0">
                <a:cs typeface="Calibri"/>
              </a:rPr>
              <a:t>Decreasing WM capacity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1EAF7-69B3-4A54-B94A-8849F68E2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2ED6-DA17-4373-A9A8-A9651F55D521}" type="slidenum">
              <a:rPr lang="en-CA" smtClean="0"/>
              <a:t>19</a:t>
            </a:fld>
            <a:endParaRPr lang="en-CA"/>
          </a:p>
        </p:txBody>
      </p:sp>
      <p:pic>
        <p:nvPicPr>
          <p:cNvPr id="7" name="Picture 8" descr="Chart, diagram&#10;&#10;Description automatically generated">
            <a:extLst>
              <a:ext uri="{FF2B5EF4-FFF2-40B4-BE49-F238E27FC236}">
                <a16:creationId xmlns:a16="http://schemas.microsoft.com/office/drawing/2014/main" id="{8E141CAD-6A5E-4821-8464-EC2C2930E3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8855" y="131283"/>
            <a:ext cx="7406315" cy="6595433"/>
          </a:xfr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5BA12C5D-4A38-43C9-A4FA-43EA2C931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36526"/>
            <a:ext cx="3932237" cy="986422"/>
          </a:xfrm>
        </p:spPr>
        <p:txBody>
          <a:bodyPr>
            <a:normAutofit/>
          </a:bodyPr>
          <a:lstStyle/>
          <a:p>
            <a:r>
              <a:rPr lang="en-CA" dirty="0">
                <a:cs typeface="Calibri Light"/>
              </a:rPr>
              <a:t>&lt;43mg/day (Childs and De Wit, 2006)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6550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94632-B85F-408D-9328-D5154F342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Non-Users (?) (Haskell et al. 2005)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B65FE-A603-4427-8AD5-2BFBCC9DB3E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CA" dirty="0">
                <a:ea typeface="+mn-lt"/>
                <a:cs typeface="+mn-lt"/>
              </a:rPr>
              <a:t>&gt;50mg/day = regular users (mean = 217mg/day)</a:t>
            </a:r>
            <a:endParaRPr lang="en-US" dirty="0">
              <a:ea typeface="+mn-lt"/>
              <a:cs typeface="+mn-lt"/>
            </a:endParaRPr>
          </a:p>
          <a:p>
            <a:r>
              <a:rPr lang="en-CA" dirty="0">
                <a:ea typeface="+mn-lt"/>
                <a:cs typeface="+mn-lt"/>
              </a:rPr>
              <a:t>&lt;50mg/day = non-users (mean = 20mg/day)</a:t>
            </a:r>
          </a:p>
          <a:p>
            <a:r>
              <a:rPr lang="en-CA" b="1" dirty="0">
                <a:ea typeface="+mn-lt"/>
                <a:cs typeface="+mn-lt"/>
              </a:rPr>
              <a:t>Regular users: 60-800mg/day</a:t>
            </a:r>
            <a:endParaRPr lang="en-US" b="1" dirty="0">
              <a:ea typeface="+mn-lt"/>
              <a:cs typeface="+mn-lt"/>
            </a:endParaRPr>
          </a:p>
          <a:p>
            <a:r>
              <a:rPr lang="en-CA" dirty="0">
                <a:ea typeface="+mn-lt"/>
                <a:cs typeface="+mn-lt"/>
              </a:rPr>
              <a:t>Max use = 800mg/day</a:t>
            </a:r>
            <a:endParaRPr lang="en-US" dirty="0">
              <a:ea typeface="+mn-lt"/>
              <a:cs typeface="+mn-lt"/>
            </a:endParaRPr>
          </a:p>
          <a:p>
            <a:r>
              <a:rPr lang="en-CA" dirty="0">
                <a:ea typeface="+mn-lt"/>
                <a:cs typeface="+mn-lt"/>
              </a:rPr>
              <a:t>75 or 150 mg doses</a:t>
            </a:r>
          </a:p>
          <a:p>
            <a:r>
              <a:rPr lang="en-CA" dirty="0">
                <a:ea typeface="+mn-lt"/>
                <a:cs typeface="+mn-lt"/>
              </a:rPr>
              <a:t>Does not find effect of withdrawal reversal</a:t>
            </a:r>
            <a:endParaRPr lang="en-US" dirty="0">
              <a:ea typeface="+mn-lt"/>
              <a:cs typeface="+mn-lt"/>
            </a:endParaRPr>
          </a:p>
          <a:p>
            <a:endParaRPr lang="en-CA" dirty="0">
              <a:ea typeface="+mn-lt"/>
              <a:cs typeface="+mn-lt"/>
            </a:endParaRPr>
          </a:p>
          <a:p>
            <a:endParaRPr lang="en-US" dirty="0">
              <a:cs typeface="Calibri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0D4AF0A-A384-44C0-B5F4-0EC9AC1B07F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i="1" dirty="0">
                <a:ea typeface="+mn-lt"/>
                <a:cs typeface="+mn-lt"/>
              </a:rPr>
              <a:t>Finds cognitive improvements</a:t>
            </a:r>
          </a:p>
          <a:p>
            <a:pPr lvl="1"/>
            <a:r>
              <a:rPr lang="en-US" dirty="0">
                <a:ea typeface="+mn-lt"/>
                <a:cs typeface="+mn-lt"/>
              </a:rPr>
              <a:t>performance on digit vigilance accuracy and reaction time</a:t>
            </a:r>
            <a:endParaRPr lang="en-CA">
              <a:ea typeface="+mn-lt"/>
              <a:cs typeface="+mn-lt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Working memory reaction time</a:t>
            </a:r>
          </a:p>
          <a:p>
            <a:pPr lvl="1"/>
            <a:r>
              <a:rPr lang="en-US" dirty="0">
                <a:ea typeface="+mn-lt"/>
                <a:cs typeface="+mn-lt"/>
              </a:rPr>
              <a:t>sentence veriﬁcation accuracy</a:t>
            </a:r>
            <a:endParaRPr lang="en-CA" dirty="0">
              <a:ea typeface="+mn-lt"/>
              <a:cs typeface="+mn-lt"/>
            </a:endParaRPr>
          </a:p>
          <a:p>
            <a:r>
              <a:rPr lang="en-US" i="1" dirty="0">
                <a:cs typeface="Calibri"/>
              </a:rPr>
              <a:t>Finds physiological changes</a:t>
            </a:r>
          </a:p>
          <a:p>
            <a:pPr lvl="1"/>
            <a:r>
              <a:rPr lang="en-US" dirty="0">
                <a:ea typeface="+mn-lt"/>
                <a:cs typeface="+mn-lt"/>
              </a:rPr>
              <a:t>Reduced mental fatigue</a:t>
            </a:r>
          </a:p>
          <a:p>
            <a:endParaRPr lang="en-US" dirty="0">
              <a:cs typeface="Calibri"/>
            </a:endParaRPr>
          </a:p>
          <a:p>
            <a:endParaRPr lang="en-CA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E41C1-F22A-4F6B-8518-0CF2BDEFC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2ED6-DA17-4373-A9A8-A9651F55D521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0602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21E1F-0EA4-43BF-8F28-BAEF9C84B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cs typeface="Calibri Light"/>
              </a:rPr>
              <a:t>Non-Users (Richardson et al. 1995)</a:t>
            </a:r>
            <a:endParaRPr lang="en-CA" dirty="0"/>
          </a:p>
        </p:txBody>
      </p:sp>
      <p:pic>
        <p:nvPicPr>
          <p:cNvPr id="6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228E3B99-D7DC-437B-AA18-ACEE0CBA79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68031" y="-8986"/>
            <a:ext cx="6599207" cy="6919102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EAC4E4-F873-4537-A67B-EE68BAF6E9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424872"/>
            <a:ext cx="3932237" cy="44441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The chapter does not mention this paper in 'non-users'</a:t>
            </a:r>
          </a:p>
          <a:p>
            <a:endParaRPr lang="en-US">
              <a:cs typeface="Calibri"/>
            </a:endParaRPr>
          </a:p>
          <a:p>
            <a:r>
              <a:rPr lang="en-US" dirty="0">
                <a:cs typeface="Calibri"/>
              </a:rPr>
              <a:t>Did not differentiate between &lt;15mg/day and &gt;200mg/day users in their analysis of their performance measures.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F24AF-6537-4C3B-97EA-89ACD4322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2ED6-DA17-4373-A9A8-A9651F55D521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32474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72593AE-1F8A-499B-87B8-6AC99DCF0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Short Term Effects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A8CB95-7981-44B8-81C8-F52EDA000B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Richardson et al. 1995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6C6EE1-B188-43DE-8071-53BCF0D77B9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&gt;200mg/day = regular users</a:t>
            </a:r>
          </a:p>
          <a:p>
            <a:r>
              <a:rPr lang="en-CA" dirty="0"/>
              <a:t>&lt;15mg/day = non-users</a:t>
            </a:r>
          </a:p>
          <a:p>
            <a:r>
              <a:rPr lang="en-CA" dirty="0"/>
              <a:t>Max use = 1000mg/day</a:t>
            </a:r>
          </a:p>
          <a:p>
            <a:r>
              <a:rPr lang="en-CA" dirty="0"/>
              <a:t>70 or 250mg doses</a:t>
            </a:r>
          </a:p>
          <a:p>
            <a:r>
              <a:rPr lang="en-CA" dirty="0"/>
              <a:t>Finds negative effect of withdrawal reversal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939592-F78F-4487-9A6C-A975469D4B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CA" dirty="0"/>
              <a:t>Haskell et al. 2005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1BAEF8F-C67F-465F-8C76-B5500A44FB6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CA" dirty="0"/>
              <a:t>&gt;50mg/day = regular users (mean = 217mg/day)</a:t>
            </a:r>
            <a:endParaRPr lang="en-US" dirty="0">
              <a:ea typeface="+mn-lt"/>
              <a:cs typeface="+mn-lt"/>
            </a:endParaRPr>
          </a:p>
          <a:p>
            <a:r>
              <a:rPr lang="en-CA" dirty="0"/>
              <a:t>&lt;50mg/day = non-users (mean = 20mg/day)</a:t>
            </a:r>
            <a:endParaRPr lang="en-CA" dirty="0">
              <a:ea typeface="+mn-lt"/>
              <a:cs typeface="+mn-lt"/>
            </a:endParaRPr>
          </a:p>
          <a:p>
            <a:r>
              <a:rPr lang="en-CA" dirty="0"/>
              <a:t>Regular users: 60-800mg/day</a:t>
            </a:r>
            <a:endParaRPr lang="en-US" dirty="0">
              <a:ea typeface="+mn-lt"/>
              <a:cs typeface="+mn-lt"/>
            </a:endParaRPr>
          </a:p>
          <a:p>
            <a:r>
              <a:rPr lang="en-CA" dirty="0"/>
              <a:t>Max use = 800mg/day</a:t>
            </a:r>
            <a:endParaRPr lang="en-US" dirty="0">
              <a:ea typeface="+mn-lt"/>
              <a:cs typeface="+mn-lt"/>
            </a:endParaRPr>
          </a:p>
          <a:p>
            <a:r>
              <a:rPr lang="en-CA" dirty="0">
                <a:cs typeface="Calibri"/>
              </a:rPr>
              <a:t>75 or 150 mg doses</a:t>
            </a:r>
            <a:endParaRPr lang="en-US" dirty="0">
              <a:ea typeface="+mn-lt"/>
              <a:cs typeface="+mn-lt"/>
            </a:endParaRPr>
          </a:p>
          <a:p>
            <a:r>
              <a:rPr lang="en-CA" dirty="0"/>
              <a:t>Does not find effect of withdrawal reversal</a:t>
            </a:r>
            <a:endParaRPr lang="en-US" dirty="0">
              <a:ea typeface="+mn-lt"/>
              <a:cs typeface="+mn-lt"/>
            </a:endParaRPr>
          </a:p>
          <a:p>
            <a:endParaRPr lang="en-CA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CA" dirty="0"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4ACE3-CD44-4653-9A5A-9978EE1E6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2ED6-DA17-4373-A9A8-A9651F55D521}" type="slidenum">
              <a:rPr lang="en-CA" smtClean="0"/>
              <a:t>22</a:t>
            </a:fld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C81B85-B0F9-447C-9D60-4661A905F8BF}"/>
              </a:ext>
            </a:extLst>
          </p:cNvPr>
          <p:cNvSpPr/>
          <p:nvPr/>
        </p:nvSpPr>
        <p:spPr>
          <a:xfrm>
            <a:off x="735169" y="1910965"/>
            <a:ext cx="5329116" cy="3302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5728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21E1F-0EA4-43BF-8F28-BAEF9C84B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cs typeface="Calibri Light"/>
              </a:rPr>
              <a:t>Non-Users (Richardson et al. 1995)</a:t>
            </a:r>
            <a:endParaRPr lang="en-CA" dirty="0"/>
          </a:p>
        </p:txBody>
      </p:sp>
      <p:pic>
        <p:nvPicPr>
          <p:cNvPr id="6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228E3B99-D7DC-437B-AA18-ACEE0CBA79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68031" y="-8986"/>
            <a:ext cx="6599207" cy="6919102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EAC4E4-F873-4537-A67B-EE68BAF6E9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424872"/>
            <a:ext cx="3932237" cy="44441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The chapter does not mention this paper in 'non-users'</a:t>
            </a:r>
          </a:p>
          <a:p>
            <a:endParaRPr lang="en-US">
              <a:cs typeface="Calibri"/>
            </a:endParaRPr>
          </a:p>
          <a:p>
            <a:r>
              <a:rPr lang="en-US" dirty="0">
                <a:cs typeface="Calibri"/>
              </a:rPr>
              <a:t>Did not differentiate between &lt;15mg/day and &gt;200mg/day users in their analysis of their performance measures.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F24AF-6537-4C3B-97EA-89ACD4322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2ED6-DA17-4373-A9A8-A9651F55D521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96827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404A9-DCCE-4C65-A56D-D780696F0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cs typeface="Calibri Light"/>
              </a:rPr>
              <a:t>Long Term Effects of Caffeine 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BE9E4-68C5-4EB3-B695-D057E81D2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CA" dirty="0">
                <a:cs typeface="Calibri"/>
              </a:rPr>
              <a:t>Moderate long-term intake can reduce the risk of cognitive decline, dementia, and Alzheimer's disease</a:t>
            </a:r>
          </a:p>
          <a:p>
            <a:r>
              <a:rPr lang="en-CA" dirty="0">
                <a:cs typeface="Calibri"/>
              </a:rPr>
              <a:t>Caffeine use reduces late life cognitive decline for women only</a:t>
            </a:r>
          </a:p>
          <a:p>
            <a:r>
              <a:rPr lang="en-CA" dirty="0">
                <a:cs typeface="Calibri"/>
              </a:rPr>
              <a:t>This disappears when adjusted for:</a:t>
            </a:r>
          </a:p>
          <a:p>
            <a:pPr lvl="1"/>
            <a:r>
              <a:rPr lang="en-CA" dirty="0">
                <a:ea typeface="+mn-lt"/>
                <a:cs typeface="+mn-lt"/>
              </a:rPr>
              <a:t>Age</a:t>
            </a:r>
          </a:p>
          <a:p>
            <a:pPr lvl="1"/>
            <a:r>
              <a:rPr lang="en-CA" dirty="0">
                <a:ea typeface="+mn-lt"/>
                <a:cs typeface="+mn-lt"/>
              </a:rPr>
              <a:t>intelligent quotient score</a:t>
            </a:r>
          </a:p>
          <a:p>
            <a:pPr lvl="1"/>
            <a:r>
              <a:rPr lang="en-CA" dirty="0">
                <a:ea typeface="+mn-lt"/>
                <a:cs typeface="+mn-lt"/>
              </a:rPr>
              <a:t>social class</a:t>
            </a:r>
            <a:endParaRPr lang="en-CA" dirty="0">
              <a:cs typeface="Calibri"/>
            </a:endParaRPr>
          </a:p>
          <a:p>
            <a:r>
              <a:rPr lang="en-CA" dirty="0">
                <a:cs typeface="Calibri"/>
              </a:rPr>
              <a:t>Vague evidence for reducing cognitive decline, too much noise in the form of ^ and lifestyle and gender </a:t>
            </a:r>
          </a:p>
          <a:p>
            <a:endParaRPr lang="en-CA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84D85-C0FE-435E-950A-7E48E15A2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2ED6-DA17-4373-A9A8-A9651F55D521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235898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1B1CD-8B69-4FEA-94E2-9D642D59D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cs typeface="Calibri Light"/>
              </a:rPr>
              <a:t>Long Term Effects </a:t>
            </a:r>
            <a:endParaRPr lang="en-CA" dirty="0"/>
          </a:p>
        </p:txBody>
      </p:sp>
      <p:pic>
        <p:nvPicPr>
          <p:cNvPr id="10" name="Picture 10" descr="Chart, box and whisker chart&#10;&#10;Description automatically generated">
            <a:extLst>
              <a:ext uri="{FF2B5EF4-FFF2-40B4-BE49-F238E27FC236}">
                <a16:creationId xmlns:a16="http://schemas.microsoft.com/office/drawing/2014/main" id="{2E124431-9222-4670-8721-7A5CB68098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0931" y="1049008"/>
            <a:ext cx="10076729" cy="5162548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CF8237-9E95-4F5B-AA77-E61E0C0CED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396117"/>
            <a:ext cx="2104087" cy="447287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Eskelinen and </a:t>
            </a:r>
            <a:r>
              <a:rPr lang="en-US" dirty="0" err="1">
                <a:cs typeface="Calibri"/>
              </a:rPr>
              <a:t>Kivipelto</a:t>
            </a:r>
            <a:r>
              <a:rPr lang="en-US" dirty="0">
                <a:cs typeface="Calibri"/>
              </a:rPr>
              <a:t>, 2010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Longitudinal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Correlational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5FC4C-7BE6-4527-A268-89A6DE509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2ED6-DA17-4373-A9A8-A9651F55D521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85580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1B1CD-8B69-4FEA-94E2-9D642D59D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cs typeface="Calibri Light"/>
              </a:rPr>
              <a:t>Long Term Effects </a:t>
            </a:r>
            <a:endParaRPr lang="en-CA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CF8237-9E95-4F5B-AA77-E61E0C0CED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396117"/>
            <a:ext cx="2120690" cy="447287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Eskelinen and </a:t>
            </a:r>
            <a:r>
              <a:rPr lang="en-US" dirty="0" err="1">
                <a:cs typeface="Calibri"/>
              </a:rPr>
              <a:t>Kivipelto</a:t>
            </a:r>
            <a:r>
              <a:rPr lang="en-US" dirty="0">
                <a:cs typeface="Calibri"/>
              </a:rPr>
              <a:t>, 2010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ea typeface="+mn-lt"/>
                <a:cs typeface="+mn-lt"/>
              </a:rPr>
              <a:t>Longitudinal</a:t>
            </a:r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Correlational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5FC4C-7BE6-4527-A268-89A6DE509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2ED6-DA17-4373-A9A8-A9651F55D521}" type="slidenum">
              <a:rPr lang="en-CA" smtClean="0"/>
              <a:t>26</a:t>
            </a:fld>
            <a:endParaRPr lang="en-CA"/>
          </a:p>
        </p:txBody>
      </p:sp>
      <p:pic>
        <p:nvPicPr>
          <p:cNvPr id="7" name="Picture 8" descr="Chart, box and whisker chart&#10;&#10;Description automatically generated">
            <a:extLst>
              <a:ext uri="{FF2B5EF4-FFF2-40B4-BE49-F238E27FC236}">
                <a16:creationId xmlns:a16="http://schemas.microsoft.com/office/drawing/2014/main" id="{DE6DD6CC-A21E-431E-B7D0-F73B0DFB60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7922" y="1215425"/>
            <a:ext cx="8839198" cy="4844092"/>
          </a:xfrm>
        </p:spPr>
      </p:pic>
    </p:spTree>
    <p:extLst>
      <p:ext uri="{BB962C8B-B14F-4D97-AF65-F5344CB8AC3E}">
        <p14:creationId xmlns:p14="http://schemas.microsoft.com/office/powerpoint/2010/main" val="27114465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484BC-ABAE-481A-BD90-F68483431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2ED6-DA17-4373-A9A8-A9651F55D521}" type="slidenum">
              <a:rPr lang="en-CA" smtClean="0"/>
              <a:t>27</a:t>
            </a:fld>
            <a:endParaRPr lang="en-CA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CC56E08-C65F-4FCF-95A6-DB538A7BA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09109" y="1122948"/>
            <a:ext cx="4262916" cy="632754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CA" dirty="0">
                <a:ea typeface="+mn-lt"/>
                <a:cs typeface="+mn-lt"/>
              </a:rPr>
              <a:t>Why would caffeine protect against Alzheimer's disease?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CA" dirty="0">
                <a:ea typeface="+mn-lt"/>
                <a:cs typeface="+mn-lt"/>
              </a:rPr>
              <a:t>A few reasons: </a:t>
            </a:r>
            <a:endParaRPr lang="en-US" dirty="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CA" sz="2800" dirty="0">
                <a:ea typeface="+mn-lt"/>
                <a:cs typeface="+mn-lt"/>
              </a:rPr>
              <a:t>Adenosine receptor blockade protects against AD in mice</a:t>
            </a:r>
            <a:endParaRPr lang="en-CA" sz="2800" b="1" dirty="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CA" sz="2800" dirty="0">
                <a:ea typeface="+mn-lt"/>
                <a:cs typeface="+mn-lt"/>
              </a:rPr>
              <a:t>protects synaptic transmission</a:t>
            </a:r>
            <a:r>
              <a:rPr lang="en-CA" sz="2800" b="1" dirty="0">
                <a:ea typeface="+mn-lt"/>
                <a:cs typeface="+mn-lt"/>
              </a:rPr>
              <a:t> </a:t>
            </a:r>
            <a:endParaRPr lang="en-US" sz="280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CA" sz="2800" dirty="0">
                <a:ea typeface="+mn-lt"/>
                <a:cs typeface="+mn-lt"/>
              </a:rPr>
              <a:t>prevents neuron death </a:t>
            </a:r>
            <a:endParaRPr lang="en-US" sz="2800" b="1" dirty="0">
              <a:ea typeface="+mn-lt"/>
              <a:cs typeface="+mn-lt"/>
            </a:endParaRPr>
          </a:p>
          <a:p>
            <a:endParaRPr lang="en-US" dirty="0">
              <a:cs typeface="Calibri"/>
            </a:endParaRPr>
          </a:p>
        </p:txBody>
      </p:sp>
      <p:pic>
        <p:nvPicPr>
          <p:cNvPr id="14" name="Picture 14">
            <a:extLst>
              <a:ext uri="{FF2B5EF4-FFF2-40B4-BE49-F238E27FC236}">
                <a16:creationId xmlns:a16="http://schemas.microsoft.com/office/drawing/2014/main" id="{BEAAF661-DD74-47D9-8425-9E7ECA270F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82178" y="977211"/>
            <a:ext cx="6910836" cy="4903577"/>
          </a:xfr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52B0EF7F-D9A9-4476-9C79-F9F4F69C4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36526"/>
            <a:ext cx="7282161" cy="986422"/>
          </a:xfrm>
        </p:spPr>
        <p:txBody>
          <a:bodyPr/>
          <a:lstStyle/>
          <a:p>
            <a:r>
              <a:rPr lang="en-CA" dirty="0">
                <a:ea typeface="+mj-lt"/>
                <a:cs typeface="+mj-lt"/>
              </a:rPr>
              <a:t>Long Term Effects (Canas et al. 2009) </a:t>
            </a:r>
          </a:p>
        </p:txBody>
      </p:sp>
    </p:spTree>
    <p:extLst>
      <p:ext uri="{BB962C8B-B14F-4D97-AF65-F5344CB8AC3E}">
        <p14:creationId xmlns:p14="http://schemas.microsoft.com/office/powerpoint/2010/main" val="40408260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6F94C-A7C8-437C-9E29-9A8E149CC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36526"/>
            <a:ext cx="7282161" cy="986422"/>
          </a:xfrm>
        </p:spPr>
        <p:txBody>
          <a:bodyPr/>
          <a:lstStyle/>
          <a:p>
            <a:r>
              <a:rPr lang="en-CA" dirty="0">
                <a:ea typeface="+mj-lt"/>
                <a:cs typeface="+mj-lt"/>
              </a:rPr>
              <a:t>Long Term Effects (Canas et al. 2009) </a:t>
            </a:r>
          </a:p>
        </p:txBody>
      </p:sp>
      <p:pic>
        <p:nvPicPr>
          <p:cNvPr id="6" name="Picture 6" descr="Chart, scatter chart&#10;&#10;Description automatically generated">
            <a:extLst>
              <a:ext uri="{FF2B5EF4-FFF2-40B4-BE49-F238E27FC236}">
                <a16:creationId xmlns:a16="http://schemas.microsoft.com/office/drawing/2014/main" id="{005314C7-7702-4374-9131-6D1C2DF904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8135" y="1115952"/>
            <a:ext cx="7407754" cy="4640472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C6CC86-BEE2-4C9A-9ECB-68E845951C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09109" y="1122948"/>
            <a:ext cx="4262916" cy="632754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CA" dirty="0">
                <a:ea typeface="+mn-lt"/>
                <a:cs typeface="+mn-lt"/>
              </a:rPr>
              <a:t>Why would caffeine protect against Alzheimer's disease?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CA" dirty="0">
                <a:ea typeface="+mn-lt"/>
                <a:cs typeface="+mn-lt"/>
              </a:rPr>
              <a:t>A few reasons: </a:t>
            </a:r>
            <a:endParaRPr lang="en-US" dirty="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CA" sz="2800" dirty="0">
                <a:ea typeface="+mn-lt"/>
                <a:cs typeface="+mn-lt"/>
              </a:rPr>
              <a:t>Adenosine receptor blockade protects against AD in mice</a:t>
            </a:r>
          </a:p>
          <a:p>
            <a:pPr marL="742950" lvl="1" indent="-285750">
              <a:buFont typeface="Arial"/>
              <a:buChar char="•"/>
            </a:pPr>
            <a:r>
              <a:rPr lang="en-CA" sz="2800" dirty="0">
                <a:ea typeface="+mn-lt"/>
                <a:cs typeface="+mn-lt"/>
              </a:rPr>
              <a:t>protects synaptic transmission</a:t>
            </a:r>
            <a:r>
              <a:rPr lang="en-CA" sz="2800" b="1" dirty="0">
                <a:ea typeface="+mn-lt"/>
                <a:cs typeface="+mn-lt"/>
              </a:rPr>
              <a:t> </a:t>
            </a:r>
            <a:endParaRPr lang="en-US" sz="280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CA" sz="2800" dirty="0">
                <a:ea typeface="+mn-lt"/>
                <a:cs typeface="+mn-lt"/>
              </a:rPr>
              <a:t>prevents neuron death </a:t>
            </a:r>
          </a:p>
          <a:p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484BC-ABAE-481A-BD90-F68483431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2ED6-DA17-4373-A9A8-A9651F55D521}" type="slidenum">
              <a:rPr lang="en-CA" smtClean="0"/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73997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345CB-59AD-4F4D-8A69-D92818596D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31954"/>
            <a:ext cx="9144000" cy="1026822"/>
          </a:xfrm>
        </p:spPr>
        <p:txBody>
          <a:bodyPr/>
          <a:lstStyle/>
          <a:p>
            <a:r>
              <a:rPr lang="en-CA" dirty="0"/>
              <a:t>Caffeine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36058B-16D9-4243-BFAE-CCF45E29B4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58776"/>
            <a:ext cx="9144000" cy="1655762"/>
          </a:xfrm>
        </p:spPr>
        <p:txBody>
          <a:bodyPr/>
          <a:lstStyle/>
          <a:p>
            <a:r>
              <a:rPr lang="en-CA" dirty="0"/>
              <a:t>in Theory Driven Approaches to Cognitive Enhancement (book download: shorturl.at/vOW56)</a:t>
            </a:r>
          </a:p>
          <a:p>
            <a:r>
              <a:rPr lang="en-CA" dirty="0"/>
              <a:t>Presented by Can Sozuer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A486D-5C62-4985-9961-53DBCD1CF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A2ED6-DA17-4373-A9A8-A9651F55D521}" type="slidenum">
              <a:rPr lang="en-CA" smtClean="0"/>
              <a:t>29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3735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539</Words>
  <Application>Microsoft Office PowerPoint</Application>
  <PresentationFormat>Widescreen</PresentationFormat>
  <Paragraphs>101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Caffeine</vt:lpstr>
      <vt:lpstr>After this talk…</vt:lpstr>
      <vt:lpstr>PowerPoint Presentation</vt:lpstr>
      <vt:lpstr>Mechanism*</vt:lpstr>
      <vt:lpstr>Mechanism*</vt:lpstr>
      <vt:lpstr>Mechanism*</vt:lpstr>
      <vt:lpstr>PowerPoint Presentation</vt:lpstr>
      <vt:lpstr>cAMP Pathway</vt:lpstr>
      <vt:lpstr>Short Term Effects</vt:lpstr>
      <vt:lpstr>Short Term Effects </vt:lpstr>
      <vt:lpstr>Short Term Effects  2</vt:lpstr>
      <vt:lpstr>Short Term Effects 3 </vt:lpstr>
      <vt:lpstr>Regular Users </vt:lpstr>
      <vt:lpstr>Non-Users (&lt;300mg/week  = &lt;43mg/day)</vt:lpstr>
      <vt:lpstr>&lt;43mg/day (Childs and De Wit, 2006)</vt:lpstr>
      <vt:lpstr>&lt;43mg/day (Childs and De Wit, 2006)</vt:lpstr>
      <vt:lpstr>&lt;43mg/day (Childs and De Wit, 2006)</vt:lpstr>
      <vt:lpstr>&lt;43mg/day (Childs and De Wit, 2006)</vt:lpstr>
      <vt:lpstr>&lt;43mg/day (Childs and De Wit, 2006)</vt:lpstr>
      <vt:lpstr>Non-Users (?) (Haskell et al. 2005)</vt:lpstr>
      <vt:lpstr>Non-Users (Richardson et al. 1995)</vt:lpstr>
      <vt:lpstr>Short Term Effects </vt:lpstr>
      <vt:lpstr>Non-Users (Richardson et al. 1995)</vt:lpstr>
      <vt:lpstr>Long Term Effects of Caffeine </vt:lpstr>
      <vt:lpstr>Long Term Effects </vt:lpstr>
      <vt:lpstr>Long Term Effects </vt:lpstr>
      <vt:lpstr>Long Term Effects (Canas et al. 2009) </vt:lpstr>
      <vt:lpstr>Long Term Effects (Canas et al. 2009) </vt:lpstr>
      <vt:lpstr>Caffeine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Caffeine</dc:title>
  <dc:creator>Can Sozuer</dc:creator>
  <cp:lastModifiedBy>Can Sozuer</cp:lastModifiedBy>
  <cp:revision>454</cp:revision>
  <dcterms:created xsi:type="dcterms:W3CDTF">2022-03-01T01:20:04Z</dcterms:created>
  <dcterms:modified xsi:type="dcterms:W3CDTF">2022-03-02T19:27:20Z</dcterms:modified>
</cp:coreProperties>
</file>
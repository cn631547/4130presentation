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0" r:id="rId4"/>
    <p:sldId id="258" r:id="rId5"/>
    <p:sldId id="269" r:id="rId6"/>
    <p:sldId id="272" r:id="rId7"/>
    <p:sldId id="259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DF74E4-9472-46EC-A504-FC690C54DA5D}" v="442" dt="2022-03-02T15:28:50.462"/>
    <p1510:client id="{8A760D27-51A7-6C94-ECCC-3A7033F09DC3}" v="62" dt="2022-03-02T19:22:45.471"/>
    <p1510:client id="{FE0EDD33-0414-8166-CD03-4AB03BFA3120}" v="1413" dt="2022-03-02T19:08:30.1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Multiple caffeine doses maintain vigilance, attention, complex motor sequence expression, and manual dexterity during 77 hours of total sleep deprivation</a:t>
            </a:r>
            <a:endParaRPr lang="en-US" sz="3200" dirty="0"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William Killgore, Gary </a:t>
            </a:r>
            <a:r>
              <a:rPr lang="en-US" sz="2000" dirty="0" err="1">
                <a:ea typeface="+mn-lt"/>
                <a:cs typeface="+mn-lt"/>
              </a:rPr>
              <a:t>Kamimori</a:t>
            </a:r>
            <a:endParaRPr lang="en-US" sz="2000" dirty="0">
              <a:ea typeface="+mn-lt"/>
              <a:cs typeface="+mn-lt"/>
            </a:endParaRPr>
          </a:p>
          <a:p>
            <a:r>
              <a:rPr lang="en-US" sz="2800" dirty="0">
                <a:cs typeface="Calibri"/>
              </a:rPr>
              <a:t>Presented by Can </a:t>
            </a:r>
            <a:r>
              <a:rPr lang="en-US" sz="2800" dirty="0" err="1">
                <a:cs typeface="Calibri"/>
              </a:rPr>
              <a:t>Sozuer</a:t>
            </a:r>
            <a:endParaRPr lang="en-US" sz="28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71783-CF76-489F-A3A3-2DB5E6E96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1D1CA-8971-4565-B5F4-7E2DCA875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After this talk...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00678-6FE1-4EA3-95B5-3B64E422C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"I need to study into the night for these exams, will a cup of coffee help me?"</a:t>
            </a:r>
          </a:p>
          <a:p>
            <a:r>
              <a:rPr lang="en-US" dirty="0">
                <a:cs typeface="Calibri"/>
              </a:rPr>
              <a:t>"I need to drive at night, will a cup of coffee help me?" 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771C9-E63A-4173-B82A-6C3EB5305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098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BD66F-B78B-4599-BC84-B62C37092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Sleep Deprivation Trivia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7851A-C3EF-4748-A9B3-274E6C62C8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50297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30% of US workers get &lt;6h sleep</a:t>
            </a:r>
          </a:p>
          <a:p>
            <a:r>
              <a:rPr lang="en-US" dirty="0">
                <a:cs typeface="Calibri"/>
              </a:rPr>
              <a:t>Sleep deprivation can affect or lead to:</a:t>
            </a:r>
          </a:p>
          <a:p>
            <a:pPr lvl="1"/>
            <a:r>
              <a:rPr lang="en-US" dirty="0">
                <a:cs typeface="Calibri"/>
              </a:rPr>
              <a:t>Various cognitive deficits</a:t>
            </a:r>
          </a:p>
          <a:p>
            <a:pPr lvl="1"/>
            <a:r>
              <a:rPr lang="en-US" dirty="0">
                <a:cs typeface="Calibri"/>
              </a:rPr>
              <a:t>Decision making</a:t>
            </a:r>
          </a:p>
          <a:p>
            <a:pPr lvl="1"/>
            <a:r>
              <a:rPr lang="en-US" dirty="0">
                <a:cs typeface="Calibri"/>
              </a:rPr>
              <a:t>Interpersonal relationships </a:t>
            </a:r>
          </a:p>
          <a:p>
            <a:pPr lvl="1"/>
            <a:r>
              <a:rPr lang="en-US" dirty="0">
                <a:cs typeface="Calibri"/>
              </a:rPr>
              <a:t>Operational errors</a:t>
            </a:r>
          </a:p>
          <a:p>
            <a:pPr lvl="1"/>
            <a:r>
              <a:rPr lang="en-US" dirty="0">
                <a:cs typeface="Calibri"/>
              </a:rPr>
              <a:t>Traffic accidents</a:t>
            </a:r>
          </a:p>
          <a:p>
            <a:pPr lvl="1"/>
            <a:r>
              <a:rPr lang="en-US" dirty="0">
                <a:cs typeface="Calibri"/>
              </a:rPr>
              <a:t>Aviation accidents </a:t>
            </a:r>
          </a:p>
          <a:p>
            <a:pPr lvl="1"/>
            <a:endParaRPr lang="en-US" dirty="0">
              <a:cs typeface="Calibri"/>
            </a:endParaRPr>
          </a:p>
          <a:p>
            <a:pPr lvl="1"/>
            <a:endParaRPr lang="en-US" dirty="0">
              <a:cs typeface="Calibri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E17631-5770-45FD-9374-3CB3C14C3A6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Simple and repetitive activities more likely to show SD related impairments</a:t>
            </a:r>
          </a:p>
          <a:p>
            <a:r>
              <a:rPr lang="en-US" dirty="0">
                <a:cs typeface="Calibri"/>
              </a:rPr>
              <a:t>Previous studies have not explored effects of SD on simple, repetitive, and monotonous tasks</a:t>
            </a:r>
          </a:p>
          <a:p>
            <a:r>
              <a:rPr lang="en-US" dirty="0">
                <a:cs typeface="Calibri"/>
              </a:rPr>
              <a:t>Previous studies have not considered &gt;500ms attentional lapses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F3956C-3136-4837-BBFB-5D06E84DA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242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34DA8C6-C39A-41DF-9962-825B92496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628650"/>
          </a:xfrm>
        </p:spPr>
        <p:txBody>
          <a:bodyPr/>
          <a:lstStyle/>
          <a:p>
            <a:r>
              <a:rPr lang="en-US" dirty="0">
                <a:cs typeface="Calibri Light"/>
              </a:rPr>
              <a:t>Experimental Design</a:t>
            </a:r>
            <a:endParaRPr lang="en-US" dirty="0"/>
          </a:p>
        </p:txBody>
      </p:sp>
      <p:pic>
        <p:nvPicPr>
          <p:cNvPr id="8" name="Picture 8" descr="Timeline&#10;&#10;Description automatically generated">
            <a:extLst>
              <a:ext uri="{FF2B5EF4-FFF2-40B4-BE49-F238E27FC236}">
                <a16:creationId xmlns:a16="http://schemas.microsoft.com/office/drawing/2014/main" id="{82A3D685-9265-4114-93C6-7778400A6E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54720" y="2401"/>
            <a:ext cx="4880037" cy="6852966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69BB39-8DA0-4325-876E-4CFEFCF8C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162050"/>
            <a:ext cx="3932237" cy="20208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Initial 8 hour sleep</a:t>
            </a:r>
          </a:p>
          <a:p>
            <a:r>
              <a:rPr lang="en-US" dirty="0">
                <a:cs typeface="Calibri"/>
              </a:rPr>
              <a:t>Baseline measurements following sleep</a:t>
            </a:r>
          </a:p>
          <a:p>
            <a:r>
              <a:rPr lang="en-US" dirty="0">
                <a:cs typeface="Calibri"/>
              </a:rPr>
              <a:t>Sleep deprivation follows baseline measurements</a:t>
            </a:r>
          </a:p>
          <a:p>
            <a:r>
              <a:rPr lang="en-US" dirty="0">
                <a:cs typeface="Calibri"/>
              </a:rPr>
              <a:t>3 days / 77 hours of total sleep deprivation</a:t>
            </a:r>
          </a:p>
          <a:p>
            <a:r>
              <a:rPr lang="en-US" dirty="0">
                <a:cs typeface="Calibri"/>
              </a:rPr>
              <a:t>Measurements taken at night</a:t>
            </a:r>
          </a:p>
          <a:p>
            <a:endParaRPr lang="en-US" dirty="0">
              <a:cs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2670CD-476C-4BF8-BD38-E33B09EA0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758AF9C-3A3F-4DA7-AA7E-19C792B2FB1F}"/>
              </a:ext>
            </a:extLst>
          </p:cNvPr>
          <p:cNvSpPr txBox="1">
            <a:spLocks/>
          </p:cNvSpPr>
          <p:nvPr/>
        </p:nvSpPr>
        <p:spPr>
          <a:xfrm>
            <a:off x="839788" y="2590800"/>
            <a:ext cx="3932237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cs typeface="Calibri Light"/>
              </a:rPr>
              <a:t>Experimental Measures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CD319-5C8C-488E-AEF9-E2BF893136C4}"/>
              </a:ext>
            </a:extLst>
          </p:cNvPr>
          <p:cNvSpPr txBox="1">
            <a:spLocks/>
          </p:cNvSpPr>
          <p:nvPr/>
        </p:nvSpPr>
        <p:spPr>
          <a:xfrm>
            <a:off x="839788" y="4352925"/>
            <a:ext cx="3932237" cy="3811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+mn-lt"/>
                <a:cs typeface="+mn-lt"/>
              </a:rPr>
              <a:t>Psychomotor vigilance test</a:t>
            </a:r>
          </a:p>
          <a:p>
            <a:r>
              <a:rPr lang="en-US" dirty="0">
                <a:ea typeface="+mn-lt"/>
                <a:cs typeface="+mn-lt"/>
              </a:rPr>
              <a:t>Tower of Hanoi puzzle</a:t>
            </a:r>
          </a:p>
          <a:p>
            <a:r>
              <a:rPr lang="en-US" dirty="0">
                <a:ea typeface="+mn-lt"/>
                <a:cs typeface="+mn-lt"/>
              </a:rPr>
              <a:t>Grooved pegboard puzzle</a:t>
            </a:r>
            <a:endParaRPr lang="en-US" dirty="0"/>
          </a:p>
          <a:p>
            <a:r>
              <a:rPr lang="en-US" dirty="0">
                <a:cs typeface="Calibri"/>
              </a:rPr>
              <a:t>Symptom effects questionnaire</a:t>
            </a:r>
            <a:endParaRPr lang="en-US" dirty="0"/>
          </a:p>
          <a:p>
            <a:r>
              <a:rPr lang="en-US" dirty="0">
                <a:cs typeface="Calibri"/>
              </a:rPr>
              <a:t>Stanford sleepiness scale</a:t>
            </a: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7048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C1B2C02A-A8A5-4422-89BB-6D707FF87D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0775" y="996950"/>
            <a:ext cx="4873625" cy="4873625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07772E-606D-4C83-9AF3-BAA826A51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677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DBBA3-51FA-4A33-AC5D-B23DBCE67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Experimental Measures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C8F692-06D8-4FAD-B9B3-5DAFD2162A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Psychomotor Vigilance Test (PVT)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8DCAF-E82A-41ED-82F0-4310C25B11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Vigilance and attention </a:t>
            </a:r>
          </a:p>
          <a:p>
            <a:r>
              <a:rPr lang="en-US" dirty="0">
                <a:cs typeface="Calibri"/>
              </a:rPr>
              <a:t>People do not get better with practice </a:t>
            </a:r>
          </a:p>
          <a:p>
            <a:r>
              <a:rPr lang="en-US" dirty="0">
                <a:cs typeface="Calibri"/>
              </a:rPr>
              <a:t>Used in sleep deprivation research</a:t>
            </a:r>
          </a:p>
          <a:p>
            <a:r>
              <a:rPr lang="en-US" dirty="0">
                <a:cs typeface="Calibri"/>
              </a:rPr>
              <a:t>Monotonous</a:t>
            </a:r>
          </a:p>
          <a:p>
            <a:endParaRPr lang="en-US" dirty="0">
              <a:cs typeface="Calibri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35A44E0-4339-4558-BE8C-C731C97CC7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Tower of Hanoi and Grooved Pegboard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2D3BD-F2AB-4E37-B6BB-20707C0BDFE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Tower of Hanoi:</a:t>
            </a:r>
          </a:p>
          <a:p>
            <a:pPr lvl="1"/>
            <a:r>
              <a:rPr lang="en-US" dirty="0">
                <a:cs typeface="Calibri"/>
              </a:rPr>
              <a:t>Planning moves</a:t>
            </a:r>
          </a:p>
          <a:p>
            <a:pPr lvl="1"/>
            <a:r>
              <a:rPr lang="en-US" dirty="0">
                <a:cs typeface="Calibri"/>
              </a:rPr>
              <a:t>Executing sequence of moves</a:t>
            </a:r>
          </a:p>
          <a:p>
            <a:pPr lvl="1"/>
            <a:r>
              <a:rPr lang="en-US" dirty="0">
                <a:cs typeface="Calibri"/>
              </a:rPr>
              <a:t>6 Peg version</a:t>
            </a:r>
          </a:p>
          <a:p>
            <a:r>
              <a:rPr lang="en-US" dirty="0">
                <a:ea typeface="+mn-lt"/>
                <a:cs typeface="+mn-lt"/>
              </a:rPr>
              <a:t>Grooved Pegboard:</a:t>
            </a:r>
          </a:p>
          <a:p>
            <a:pPr lvl="1"/>
            <a:r>
              <a:rPr lang="en-US" dirty="0">
                <a:cs typeface="Calibri"/>
              </a:rPr>
              <a:t>Fine motor coordination</a:t>
            </a:r>
          </a:p>
          <a:p>
            <a:pPr lvl="1"/>
            <a:endParaRPr lang="en-US" dirty="0">
              <a:cs typeface="Calibri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1C75E-8143-4BE0-AC73-1CA5EE40B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3ECE355-B08D-4E69-9B15-0FB8C93ACA7F}"/>
              </a:ext>
            </a:extLst>
          </p:cNvPr>
          <p:cNvSpPr txBox="1">
            <a:spLocks/>
          </p:cNvSpPr>
          <p:nvPr/>
        </p:nvSpPr>
        <p:spPr>
          <a:xfrm>
            <a:off x="1629509" y="5743086"/>
            <a:ext cx="8942753" cy="9809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cs typeface="Calibri"/>
              </a:rPr>
              <a:t>Experimental confounds: Monotony, time-on-task, h</a:t>
            </a:r>
            <a:r>
              <a:rPr lang="en-US" b="0" i="1" dirty="0">
                <a:cs typeface="Calibri"/>
              </a:rPr>
              <a:t>omeostatic forces </a:t>
            </a:r>
            <a:endParaRPr lang="en-US" dirty="0"/>
          </a:p>
          <a:p>
            <a:endParaRPr lang="en-US" b="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5247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F5E07-345F-4D04-B190-193D47320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Results</a:t>
            </a:r>
            <a:br>
              <a:rPr lang="en-US" dirty="0">
                <a:cs typeface="Calibri Light"/>
              </a:rPr>
            </a:br>
            <a:r>
              <a:rPr lang="en-US" dirty="0">
                <a:cs typeface="Calibri Light"/>
              </a:rPr>
              <a:t>   PVT</a:t>
            </a:r>
            <a:br>
              <a:rPr lang="en-US" dirty="0">
                <a:cs typeface="Calibri Light"/>
              </a:rPr>
            </a:br>
            <a:r>
              <a:rPr lang="en-US" dirty="0">
                <a:cs typeface="Calibri Light"/>
              </a:rPr>
              <a:t>     Speed</a:t>
            </a:r>
            <a:endParaRPr lang="en-US" dirty="0"/>
          </a:p>
        </p:txBody>
      </p:sp>
      <p:pic>
        <p:nvPicPr>
          <p:cNvPr id="5" name="Picture 5" descr="A picture containing bar chart&#10;&#10;Description automatically generated">
            <a:extLst>
              <a:ext uri="{FF2B5EF4-FFF2-40B4-BE49-F238E27FC236}">
                <a16:creationId xmlns:a16="http://schemas.microsoft.com/office/drawing/2014/main" id="{F4068804-E1AD-46A2-A06E-8CF4E9211C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4333" y="1043110"/>
            <a:ext cx="7429987" cy="449848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29C2D-5815-41E1-8696-307CC8E8A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22712" cy="38115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cs typeface="Calibri"/>
              </a:rPr>
              <a:t>Caffeine outperforms placebo on all 3 nights</a:t>
            </a:r>
          </a:p>
          <a:p>
            <a:endParaRPr lang="en-US" sz="2400" dirty="0">
              <a:cs typeface="Calibri"/>
            </a:endParaRPr>
          </a:p>
          <a:p>
            <a:r>
              <a:rPr lang="en-US" sz="2400" dirty="0" err="1">
                <a:cs typeface="Calibri"/>
              </a:rPr>
              <a:t>N_p</a:t>
            </a:r>
            <a:r>
              <a:rPr lang="en-US" sz="2400" dirty="0">
                <a:cs typeface="Calibri"/>
              </a:rPr>
              <a:t> = .503</a:t>
            </a:r>
          </a:p>
          <a:p>
            <a:endParaRPr lang="en-US" sz="2400" dirty="0">
              <a:cs typeface="Calibri"/>
            </a:endParaRPr>
          </a:p>
          <a:p>
            <a:r>
              <a:rPr lang="en-US" sz="2400" i="1" dirty="0">
                <a:cs typeface="Calibri"/>
              </a:rPr>
              <a:t>Caffeine</a:t>
            </a:r>
            <a:r>
              <a:rPr lang="en-US" sz="2400" dirty="0">
                <a:cs typeface="Calibri"/>
              </a:rPr>
              <a:t> group more likely to do better than on </a:t>
            </a:r>
            <a:r>
              <a:rPr lang="en-US" sz="2400" i="1" dirty="0">
                <a:cs typeface="Calibri"/>
              </a:rPr>
              <a:t>later blocks</a:t>
            </a:r>
            <a:r>
              <a:rPr lang="en-US" sz="2400" dirty="0">
                <a:cs typeface="Calibri"/>
              </a:rPr>
              <a:t> only on </a:t>
            </a:r>
            <a:r>
              <a:rPr lang="en-US" sz="2400" i="1" dirty="0">
                <a:cs typeface="Calibri"/>
              </a:rPr>
              <a:t>night 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7B2908-1044-44C0-AF8E-6AB08B8E2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843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F5E07-345F-4D04-B190-193D47320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Results</a:t>
            </a:r>
            <a:br>
              <a:rPr lang="en-US" dirty="0">
                <a:cs typeface="Calibri Light"/>
              </a:rPr>
            </a:br>
            <a:r>
              <a:rPr lang="en-US" dirty="0">
                <a:cs typeface="Calibri Light"/>
              </a:rPr>
              <a:t>   PVT</a:t>
            </a:r>
            <a:br>
              <a:rPr lang="en-US" dirty="0">
                <a:cs typeface="Calibri Light"/>
              </a:rPr>
            </a:br>
            <a:r>
              <a:rPr lang="en-US" dirty="0">
                <a:cs typeface="Calibri Light"/>
              </a:rPr>
              <a:t>     1-5 second lapses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29C2D-5815-41E1-8696-307CC8E8A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22712" cy="408781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Char char="•"/>
            </a:pPr>
            <a:r>
              <a:rPr lang="en-US" sz="2400" dirty="0">
                <a:cs typeface="Calibri"/>
              </a:rPr>
              <a:t>Auditory intervention</a:t>
            </a:r>
          </a:p>
          <a:p>
            <a:pPr marL="342900" indent="-342900">
              <a:buChar char="•"/>
            </a:pPr>
            <a:r>
              <a:rPr lang="en-US" sz="2400" dirty="0">
                <a:cs typeface="Calibri"/>
              </a:rPr>
              <a:t>Caffeine outperformed placebo on night 1</a:t>
            </a:r>
            <a:endParaRPr lang="en-US" dirty="0">
              <a:cs typeface="Calibri"/>
            </a:endParaRPr>
          </a:p>
          <a:p>
            <a:pPr marL="342900" indent="-342900">
              <a:buChar char="•"/>
            </a:pPr>
            <a:r>
              <a:rPr lang="en-US" sz="2400" dirty="0">
                <a:cs typeface="Calibri"/>
              </a:rPr>
              <a:t>Placebo group were more likely to do worse than caffeine at later blocks only on night 1</a:t>
            </a:r>
          </a:p>
          <a:p>
            <a:pPr marL="342900" indent="-342900">
              <a:buChar char="•"/>
            </a:pPr>
            <a:r>
              <a:rPr lang="en-US" sz="2400" dirty="0">
                <a:cs typeface="Calibri"/>
              </a:rPr>
              <a:t>Night 1 Caffeine </a:t>
            </a:r>
            <a:r>
              <a:rPr lang="en-US" sz="2400" dirty="0" err="1">
                <a:cs typeface="Calibri"/>
              </a:rPr>
              <a:t>N_p</a:t>
            </a:r>
            <a:r>
              <a:rPr lang="en-US" sz="2400" dirty="0">
                <a:cs typeface="Calibri"/>
              </a:rPr>
              <a:t> = .488</a:t>
            </a:r>
          </a:p>
          <a:p>
            <a:pPr marL="342900" indent="-342900">
              <a:buChar char="•"/>
            </a:pPr>
            <a:r>
              <a:rPr lang="en-US" sz="2400" dirty="0">
                <a:cs typeface="Calibri"/>
              </a:rPr>
              <a:t>Bonus points for spotting the typo</a:t>
            </a:r>
          </a:p>
        </p:txBody>
      </p:sp>
      <p:pic>
        <p:nvPicPr>
          <p:cNvPr id="8" name="Picture 8" descr="Chart, bar chart&#10;&#10;Description automatically generated">
            <a:extLst>
              <a:ext uri="{FF2B5EF4-FFF2-40B4-BE49-F238E27FC236}">
                <a16:creationId xmlns:a16="http://schemas.microsoft.com/office/drawing/2014/main" id="{583759D2-4CEB-486B-ABD6-671FF7EE59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3844" y="1018809"/>
            <a:ext cx="7430965" cy="4547087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F6B236-83B3-42EF-965C-70C8FEA12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190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F5E07-345F-4D04-B190-193D47320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Results</a:t>
            </a:r>
            <a:br>
              <a:rPr lang="en-US" dirty="0">
                <a:cs typeface="Calibri Light"/>
              </a:rPr>
            </a:br>
            <a:r>
              <a:rPr lang="en-US" dirty="0">
                <a:cs typeface="Calibri Light"/>
              </a:rPr>
              <a:t>   PVT</a:t>
            </a:r>
            <a:br>
              <a:rPr lang="en-US" dirty="0">
                <a:cs typeface="Calibri Light"/>
              </a:rPr>
            </a:br>
            <a:r>
              <a:rPr lang="en-US" dirty="0">
                <a:cs typeface="Calibri Light"/>
              </a:rPr>
              <a:t>     5-10 second lapses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29C2D-5815-41E1-8696-307CC8E8A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sz="2400" dirty="0">
                <a:cs typeface="Calibri" panose="020F0502020204030204"/>
              </a:rPr>
              <a:t>Physical intervention</a:t>
            </a:r>
            <a:endParaRPr lang="en-US" sz="2400">
              <a:cs typeface="Calibri"/>
            </a:endParaRPr>
          </a:p>
          <a:p>
            <a:pPr marL="285750" indent="-285750">
              <a:buChar char="•"/>
            </a:pPr>
            <a:r>
              <a:rPr lang="en-US" sz="2400" dirty="0">
                <a:cs typeface="Calibri" panose="020F0502020204030204"/>
              </a:rPr>
              <a:t>Caffeine outperformed placebo on all 3 nights</a:t>
            </a:r>
          </a:p>
          <a:p>
            <a:pPr marL="285750" indent="-285750">
              <a:buChar char="•"/>
            </a:pPr>
            <a:r>
              <a:rPr lang="en-US" sz="2400" dirty="0">
                <a:cs typeface="Calibri" panose="020F0502020204030204"/>
              </a:rPr>
              <a:t>RL's increased over nights</a:t>
            </a:r>
          </a:p>
          <a:p>
            <a:pPr marL="285750" indent="-285750">
              <a:buChar char="•"/>
            </a:pPr>
            <a:r>
              <a:rPr lang="en-US" sz="2400" dirty="0">
                <a:cs typeface="Calibri" panose="020F0502020204030204"/>
              </a:rPr>
              <a:t>Caffeine </a:t>
            </a:r>
            <a:r>
              <a:rPr lang="en-US" sz="2400" dirty="0" err="1">
                <a:cs typeface="Calibri" panose="020F0502020204030204"/>
              </a:rPr>
              <a:t>N_p</a:t>
            </a:r>
            <a:r>
              <a:rPr lang="en-US" sz="2400" dirty="0">
                <a:cs typeface="Calibri" panose="020F0502020204030204"/>
              </a:rPr>
              <a:t> = .335, .519, .239 across the 3 nights</a:t>
            </a:r>
          </a:p>
          <a:p>
            <a:pPr marL="285750" indent="-285750">
              <a:buChar char="•"/>
            </a:pPr>
            <a:endParaRPr lang="en-US" sz="2400" dirty="0">
              <a:cs typeface="Calibri" panose="020F0502020204030204"/>
            </a:endParaRPr>
          </a:p>
        </p:txBody>
      </p:sp>
      <p:pic>
        <p:nvPicPr>
          <p:cNvPr id="7" name="Picture 7" descr="Chart, bar chart&#10;&#10;Description automatically generated">
            <a:extLst>
              <a:ext uri="{FF2B5EF4-FFF2-40B4-BE49-F238E27FC236}">
                <a16:creationId xmlns:a16="http://schemas.microsoft.com/office/drawing/2014/main" id="{9AECA14C-64DC-45CB-A0AC-52D837514C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4577" y="1033829"/>
            <a:ext cx="7429499" cy="4536586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103B68-34A7-486A-8F4A-FCF4CF626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979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29C2D-5815-41E1-8696-307CC8E8A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cs typeface="Calibri"/>
              </a:rPr>
              <a:t>General worsening over nights</a:t>
            </a:r>
          </a:p>
          <a:p>
            <a:r>
              <a:rPr lang="en-US" sz="2400" dirty="0">
                <a:cs typeface="Calibri"/>
              </a:rPr>
              <a:t>Caffeine better only on night 2</a:t>
            </a:r>
          </a:p>
          <a:p>
            <a:r>
              <a:rPr lang="en-US" sz="2400" dirty="0">
                <a:cs typeface="Calibri"/>
              </a:rPr>
              <a:t>Night 2 </a:t>
            </a:r>
            <a:r>
              <a:rPr lang="en-US" sz="2400" dirty="0" err="1">
                <a:cs typeface="Calibri"/>
              </a:rPr>
              <a:t>N_p</a:t>
            </a:r>
            <a:r>
              <a:rPr lang="en-US" sz="2400" dirty="0">
                <a:cs typeface="Calibri"/>
              </a:rPr>
              <a:t> = .361</a:t>
            </a:r>
          </a:p>
          <a:p>
            <a:endParaRPr lang="en-US" sz="2400" dirty="0">
              <a:cs typeface="Calibri"/>
            </a:endParaRPr>
          </a:p>
        </p:txBody>
      </p:sp>
      <p:pic>
        <p:nvPicPr>
          <p:cNvPr id="7" name="Picture 7" descr="Chart&#10;&#10;Description automatically generated">
            <a:extLst>
              <a:ext uri="{FF2B5EF4-FFF2-40B4-BE49-F238E27FC236}">
                <a16:creationId xmlns:a16="http://schemas.microsoft.com/office/drawing/2014/main" id="{D7CF9307-D2EF-4007-BA88-FD78366AA5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8362" y="951401"/>
            <a:ext cx="7421928" cy="4681903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4F5E07-345F-4D04-B190-193D47320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430467" cy="1600200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Results</a:t>
            </a:r>
            <a:br>
              <a:rPr lang="en-US" dirty="0">
                <a:cs typeface="Calibri Light"/>
              </a:rPr>
            </a:br>
            <a:r>
              <a:rPr lang="en-US" dirty="0">
                <a:cs typeface="Calibri Light"/>
              </a:rPr>
              <a:t>   PVT</a:t>
            </a:r>
            <a:br>
              <a:rPr lang="en-US" dirty="0">
                <a:cs typeface="Calibri Light"/>
              </a:rPr>
            </a:br>
            <a:r>
              <a:rPr lang="en-US" dirty="0">
                <a:cs typeface="Calibri Light"/>
              </a:rPr>
              <a:t>     Non-responsive lapses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4EF849-960E-4DD8-ACD7-7F273F337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694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29C2D-5815-41E1-8696-307CC8E8A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342900" indent="-342900">
              <a:buChar char="•"/>
            </a:pPr>
            <a:r>
              <a:rPr lang="en-US" sz="2400" dirty="0">
                <a:cs typeface="Calibri"/>
              </a:rPr>
              <a:t>Caffeine group was faster than placebo (mean 24.91s vs. 35.95s)</a:t>
            </a:r>
            <a:endParaRPr lang="en-US"/>
          </a:p>
          <a:p>
            <a:pPr marL="342900" indent="-342900">
              <a:buChar char="•"/>
            </a:pPr>
            <a:r>
              <a:rPr lang="en-US" sz="2400" dirty="0">
                <a:cs typeface="Calibri"/>
              </a:rPr>
              <a:t>Performance did not vary across night or blocks or blocks and nights</a:t>
            </a:r>
          </a:p>
          <a:p>
            <a:pPr marL="342900" indent="-342900">
              <a:buChar char="•"/>
            </a:pPr>
            <a:r>
              <a:rPr lang="en-US" sz="2400" i="1" dirty="0">
                <a:cs typeface="Calibri"/>
              </a:rPr>
              <a:t>On the 6 ring version: </a:t>
            </a:r>
          </a:p>
          <a:p>
            <a:pPr marL="800100" lvl="1" indent="-342900">
              <a:buChar char="•"/>
            </a:pPr>
            <a:r>
              <a:rPr lang="en-US" sz="2200" i="1" dirty="0">
                <a:cs typeface="Calibri"/>
              </a:rPr>
              <a:t>Caffeine performed better</a:t>
            </a:r>
          </a:p>
          <a:p>
            <a:pPr marL="800100" lvl="1" indent="-342900">
              <a:buChar char="•"/>
            </a:pPr>
            <a:r>
              <a:rPr lang="en-US" sz="2200" i="1" dirty="0">
                <a:cs typeface="Calibri"/>
              </a:rPr>
              <a:t>Mean 114 moves vs. 165</a:t>
            </a:r>
          </a:p>
          <a:p>
            <a:pPr marL="800100" lvl="1" indent="-342900">
              <a:buChar char="•"/>
            </a:pPr>
            <a:r>
              <a:rPr lang="en-US" sz="2200" i="1" dirty="0" err="1">
                <a:cs typeface="Calibri"/>
              </a:rPr>
              <a:t>N_p</a:t>
            </a:r>
            <a:r>
              <a:rPr lang="en-US" sz="2200" i="1" dirty="0">
                <a:cs typeface="Calibri"/>
              </a:rPr>
              <a:t> = 0.200</a:t>
            </a:r>
          </a:p>
          <a:p>
            <a:pPr marL="342900" indent="-342900">
              <a:buChar char="•"/>
            </a:pPr>
            <a:r>
              <a:rPr lang="en-US" sz="2400" dirty="0" err="1">
                <a:cs typeface="Calibri"/>
              </a:rPr>
              <a:t>N_p</a:t>
            </a:r>
            <a:r>
              <a:rPr lang="en-US" sz="2400" dirty="0">
                <a:cs typeface="Calibri"/>
              </a:rPr>
              <a:t> = .379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F5E07-345F-4D04-B190-193D47320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430467" cy="1600200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Results</a:t>
            </a:r>
            <a:br>
              <a:rPr lang="en-US" dirty="0">
                <a:cs typeface="Calibri Light"/>
              </a:rPr>
            </a:br>
            <a:r>
              <a:rPr lang="en-US" dirty="0">
                <a:cs typeface="Calibri Light"/>
              </a:rPr>
              <a:t>   Tower of Hanoi</a:t>
            </a:r>
            <a:br>
              <a:rPr lang="en-US" dirty="0">
                <a:cs typeface="Calibri Light"/>
              </a:rPr>
            </a:br>
            <a:r>
              <a:rPr lang="en-US" dirty="0">
                <a:cs typeface="Calibri Light"/>
              </a:rPr>
              <a:t>     Completion Time</a:t>
            </a:r>
            <a:endParaRPr lang="en-US" dirty="0"/>
          </a:p>
        </p:txBody>
      </p:sp>
      <p:pic>
        <p:nvPicPr>
          <p:cNvPr id="6" name="Picture 7" descr="Chart, bar chart&#10;&#10;Description automatically generated">
            <a:extLst>
              <a:ext uri="{FF2B5EF4-FFF2-40B4-BE49-F238E27FC236}">
                <a16:creationId xmlns:a16="http://schemas.microsoft.com/office/drawing/2014/main" id="{282A06E1-B1EA-439A-9CD5-2405CA86D7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06804" y="1009383"/>
            <a:ext cx="7588737" cy="4653862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168571-B7D0-467E-932F-B3A8BAD59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111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29C2D-5815-41E1-8696-307CC8E8A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cs typeface="Calibri"/>
              </a:rPr>
              <a:t>Caffeine group faster than placebo across all 3 nights</a:t>
            </a:r>
          </a:p>
          <a:p>
            <a:r>
              <a:rPr lang="en-US" sz="2400" dirty="0">
                <a:cs typeface="Calibri"/>
              </a:rPr>
              <a:t>Performance did not differ between nights, blocks, or nights and blocks</a:t>
            </a:r>
          </a:p>
          <a:p>
            <a:r>
              <a:rPr lang="en-US" sz="2400" err="1">
                <a:cs typeface="Calibri"/>
              </a:rPr>
              <a:t>N_p</a:t>
            </a:r>
            <a:r>
              <a:rPr lang="en-US" sz="2400" dirty="0">
                <a:cs typeface="Calibri"/>
              </a:rPr>
              <a:t> = .326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F5E07-345F-4D04-B190-193D47320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430467" cy="1600200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Results</a:t>
            </a:r>
            <a:br>
              <a:rPr lang="en-US" dirty="0">
                <a:cs typeface="Calibri Light"/>
              </a:rPr>
            </a:br>
            <a:r>
              <a:rPr lang="en-US" dirty="0">
                <a:cs typeface="Calibri Light"/>
              </a:rPr>
              <a:t>   Grooved Pegboard</a:t>
            </a:r>
            <a:br>
              <a:rPr lang="en-US" dirty="0">
                <a:cs typeface="Calibri Light"/>
              </a:rPr>
            </a:br>
            <a:r>
              <a:rPr lang="en-US" dirty="0">
                <a:cs typeface="Calibri Light"/>
              </a:rPr>
              <a:t>      Completion time</a:t>
            </a:r>
            <a:endParaRPr lang="en-US" dirty="0"/>
          </a:p>
        </p:txBody>
      </p:sp>
      <p:pic>
        <p:nvPicPr>
          <p:cNvPr id="6" name="Picture 7" descr="Chart, bar chart&#10;&#10;Description automatically generated">
            <a:extLst>
              <a:ext uri="{FF2B5EF4-FFF2-40B4-BE49-F238E27FC236}">
                <a16:creationId xmlns:a16="http://schemas.microsoft.com/office/drawing/2014/main" id="{F6E0DD66-AC2B-436D-8144-329D70D0DB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04496" y="1114188"/>
            <a:ext cx="7491045" cy="4405175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40F787-60E8-4B9E-9121-B64DADB62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125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29C2D-5815-41E1-8696-307CC8E8A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F5E07-345F-4D04-B190-193D47320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019" y="115276"/>
            <a:ext cx="11298236" cy="476740"/>
          </a:xfrm>
        </p:spPr>
        <p:txBody>
          <a:bodyPr>
            <a:normAutofit fontScale="90000"/>
          </a:bodyPr>
          <a:lstStyle/>
          <a:p>
            <a:r>
              <a:rPr lang="en-US" dirty="0">
                <a:cs typeface="Calibri Light"/>
              </a:rPr>
              <a:t>Side Effects: </a:t>
            </a:r>
            <a:r>
              <a:rPr lang="en-US" dirty="0">
                <a:highlight>
                  <a:srgbClr val="00FF00"/>
                </a:highlight>
                <a:cs typeface="Calibri Light"/>
              </a:rPr>
              <a:t>Caffeine did worse.</a:t>
            </a:r>
            <a:r>
              <a:rPr lang="en-US" dirty="0">
                <a:cs typeface="Calibri Light"/>
              </a:rPr>
              <a:t> </a:t>
            </a:r>
            <a:r>
              <a:rPr lang="en-US" dirty="0">
                <a:highlight>
                  <a:srgbClr val="FFFF00"/>
                </a:highlight>
                <a:cs typeface="Calibri Light"/>
              </a:rPr>
              <a:t>Placebo did worse. </a:t>
            </a:r>
            <a:endParaRPr lang="en-US">
              <a:highlight>
                <a:srgbClr val="FFFF00"/>
              </a:highlight>
              <a:cs typeface="Calibri Light"/>
            </a:endParaRPr>
          </a:p>
        </p:txBody>
      </p:sp>
      <p:pic>
        <p:nvPicPr>
          <p:cNvPr id="6" name="Picture 7" descr="Table&#10;&#10;Description automatically generated">
            <a:extLst>
              <a:ext uri="{FF2B5EF4-FFF2-40B4-BE49-F238E27FC236}">
                <a16:creationId xmlns:a16="http://schemas.microsoft.com/office/drawing/2014/main" id="{E750D1D6-D1FF-4AE8-AF32-03F9B5B763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110" y="550200"/>
            <a:ext cx="11301046" cy="6304923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C439BB-485F-429D-A168-493E0870E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14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29C2D-5815-41E1-8696-307CC8E8A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F5E07-345F-4D04-B190-193D47320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5016620" cy="3390900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Results</a:t>
            </a:r>
            <a:br>
              <a:rPr lang="en-US" dirty="0">
                <a:cs typeface="Calibri Light"/>
              </a:rPr>
            </a:br>
            <a:r>
              <a:rPr lang="en-US" dirty="0">
                <a:cs typeface="Calibri Light"/>
              </a:rPr>
              <a:t>   Stanford Sleepiness Scale</a:t>
            </a:r>
            <a:br>
              <a:rPr lang="en-US" dirty="0">
                <a:cs typeface="Calibri Light"/>
              </a:rPr>
            </a:br>
            <a:r>
              <a:rPr lang="en-US" dirty="0">
                <a:cs typeface="Calibri Light"/>
              </a:rPr>
              <a:t>     Sleepiness</a:t>
            </a:r>
            <a:endParaRPr lang="en-US" dirty="0"/>
          </a:p>
        </p:txBody>
      </p:sp>
      <p:pic>
        <p:nvPicPr>
          <p:cNvPr id="6" name="Picture 7" descr="Text&#10;&#10;Description automatically generated">
            <a:extLst>
              <a:ext uri="{FF2B5EF4-FFF2-40B4-BE49-F238E27FC236}">
                <a16:creationId xmlns:a16="http://schemas.microsoft.com/office/drawing/2014/main" id="{312AB772-E2C0-4EFC-B98A-572B124832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6600" y="3000375"/>
            <a:ext cx="4905375" cy="847725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B16ED9-365E-47DB-B509-B8187CB25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072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Multiple caffeine doses maintain vigilance, attention, complex motor sequence expression, and manual dexterity during 77 hours of total sleep deprivation</a:t>
            </a:r>
            <a:endParaRPr lang="en-US" sz="3200" dirty="0"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William Killgore, Gary </a:t>
            </a:r>
            <a:r>
              <a:rPr lang="en-US" sz="2000" dirty="0" err="1">
                <a:ea typeface="+mn-lt"/>
                <a:cs typeface="+mn-lt"/>
              </a:rPr>
              <a:t>Kamimori</a:t>
            </a:r>
            <a:endParaRPr lang="en-US" sz="2000" dirty="0">
              <a:ea typeface="+mn-lt"/>
              <a:cs typeface="+mn-lt"/>
            </a:endParaRPr>
          </a:p>
          <a:p>
            <a:r>
              <a:rPr lang="en-US" sz="2800" dirty="0">
                <a:cs typeface="Calibri"/>
              </a:rPr>
              <a:t>Presented by Can </a:t>
            </a:r>
            <a:r>
              <a:rPr lang="en-US" sz="2800" dirty="0" err="1">
                <a:cs typeface="Calibri"/>
              </a:rPr>
              <a:t>Sozuer</a:t>
            </a:r>
            <a:endParaRPr lang="en-US" sz="28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71783-CF76-489F-A3A3-2DB5E6E96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169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Multiple caffeine doses maintain vigilance, attention, complex motor sequence expression, and manual dexterity during 77 hours of total sleep deprivation</vt:lpstr>
      <vt:lpstr>After this talk...</vt:lpstr>
      <vt:lpstr>Sleep Deprivation Trivia</vt:lpstr>
      <vt:lpstr>Experimental Design</vt:lpstr>
      <vt:lpstr>PowerPoint Presentation</vt:lpstr>
      <vt:lpstr>Experimental Measures</vt:lpstr>
      <vt:lpstr>Results    PVT      Speed</vt:lpstr>
      <vt:lpstr>Results    PVT      1-5 second lapses</vt:lpstr>
      <vt:lpstr>Results    PVT      5-10 second lapses</vt:lpstr>
      <vt:lpstr>Results    PVT      Non-responsive lapses</vt:lpstr>
      <vt:lpstr>Results    Tower of Hanoi      Completion Time</vt:lpstr>
      <vt:lpstr>Results    Grooved Pegboard       Completion time</vt:lpstr>
      <vt:lpstr>Side Effects: Caffeine did worse. Placebo did worse. </vt:lpstr>
      <vt:lpstr>Results    Stanford Sleepiness Scale      Sleepiness</vt:lpstr>
      <vt:lpstr>Multiple caffeine doses maintain vigilance, attention, complex motor sequence expression, and manual dexterity during 77 hours of total sleep deprivation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361</cp:revision>
  <dcterms:created xsi:type="dcterms:W3CDTF">2022-03-02T14:58:26Z</dcterms:created>
  <dcterms:modified xsi:type="dcterms:W3CDTF">2022-03-02T19:27:26Z</dcterms:modified>
</cp:coreProperties>
</file>